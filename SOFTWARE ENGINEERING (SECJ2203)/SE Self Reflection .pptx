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21" r:id="rId2"/>
    <p:sldId id="315" r:id="rId3"/>
    <p:sldId id="319" r:id="rId4"/>
    <p:sldId id="269" r:id="rId5"/>
    <p:sldId id="262" r:id="rId6"/>
    <p:sldId id="325" r:id="rId7"/>
    <p:sldId id="259" r:id="rId8"/>
    <p:sldId id="271" r:id="rId9"/>
    <p:sldId id="274" r:id="rId10"/>
    <p:sldId id="273" r:id="rId11"/>
    <p:sldId id="31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6C1D3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44" autoAdjust="0"/>
    <p:restoredTop sz="95344" autoAdjust="0"/>
  </p:normalViewPr>
  <p:slideViewPr>
    <p:cSldViewPr snapToGrid="0">
      <p:cViewPr varScale="1">
        <p:scale>
          <a:sx n="81" d="100"/>
          <a:sy n="81" d="100"/>
        </p:scale>
        <p:origin x="514"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509BF-53EE-4D84-844F-BEC1430829BC}" type="datetimeFigureOut">
              <a:rPr lang="en-US" smtClean="0"/>
              <a:t>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tiff"/><Relationship Id="rId5" Type="http://schemas.openxmlformats.org/officeDocument/2006/relationships/image" Target="../media/image6.svg"/><Relationship Id="rId10" Type="http://schemas.openxmlformats.org/officeDocument/2006/relationships/image" Target="../media/image10.svg"/><Relationship Id="rId4" Type="http://schemas.openxmlformats.org/officeDocument/2006/relationships/image" Target="../media/image5.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1428041" y="-1428041"/>
            <a:ext cx="6880030" cy="9736110"/>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59093" y="0"/>
            <a:ext cx="12073813"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5953544" y="641578"/>
            <a:ext cx="28490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5479363" y="6595121"/>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2959644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4323456"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2126331" y="-1062392"/>
            <a:ext cx="240508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602281" y="2616106"/>
            <a:ext cx="7046892" cy="181468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83211" y="3743462"/>
            <a:ext cx="2080701"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830037" y="6046777"/>
            <a:ext cx="419100" cy="790575"/>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12192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7112000" y="-35081"/>
            <a:ext cx="491744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11268262" y="349094"/>
            <a:ext cx="2010036"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12230100"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2686050" y="-2686050"/>
            <a:ext cx="6858000" cy="12230100"/>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CAB3E7-A192-D902-B47D-B2CC33AF3A1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29" name="Group 28">
            <a:extLst>
              <a:ext uri="{FF2B5EF4-FFF2-40B4-BE49-F238E27FC236}">
                <a16:creationId xmlns:a16="http://schemas.microsoft.com/office/drawing/2014/main" id="{9956ED8E-CF4D-D756-5FA9-5F3263853A9C}"/>
              </a:ext>
            </a:extLst>
          </p:cNvPr>
          <p:cNvGrpSpPr/>
          <p:nvPr userDrawn="1"/>
        </p:nvGrpSpPr>
        <p:grpSpPr>
          <a:xfrm>
            <a:off x="0" y="6438899"/>
            <a:ext cx="4425450" cy="419100"/>
            <a:chOff x="0" y="6438899"/>
            <a:chExt cx="4425450" cy="419100"/>
          </a:xfrm>
        </p:grpSpPr>
        <p:sp>
          <p:nvSpPr>
            <p:cNvPr id="27" name="Rectangle 26">
              <a:extLst>
                <a:ext uri="{FF2B5EF4-FFF2-40B4-BE49-F238E27FC236}">
                  <a16:creationId xmlns:a16="http://schemas.microsoft.com/office/drawing/2014/main" id="{4185CCF7-2507-F40E-2E71-04B5C07C7F09}"/>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Triangle 27">
              <a:extLst>
                <a:ext uri="{FF2B5EF4-FFF2-40B4-BE49-F238E27FC236}">
                  <a16:creationId xmlns:a16="http://schemas.microsoft.com/office/drawing/2014/main" id="{891B4BFE-7090-CB15-ACE2-E76D3D5E6402}"/>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796ACF-1284-B0D3-20AC-1A411B0BC639}"/>
              </a:ext>
            </a:extLst>
          </p:cNvPr>
          <p:cNvSpPr>
            <a:spLocks noGrp="1"/>
          </p:cNvSpPr>
          <p:nvPr>
            <p:ph type="title"/>
          </p:nvPr>
        </p:nvSpPr>
        <p:spPr>
          <a:xfrm>
            <a:off x="831850" y="1047751"/>
            <a:ext cx="10515600" cy="1500187"/>
          </a:xfrm>
        </p:spPr>
        <p:txBody>
          <a:bodyPr anchor="t">
            <a:normAutofit/>
          </a:bodyPr>
          <a:lstStyle>
            <a:lvl1pPr>
              <a:defRPr sz="4000">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CAE66E6B-CFF2-F241-A3D1-4FD4DAC4FAC5}"/>
              </a:ext>
            </a:extLst>
          </p:cNvPr>
          <p:cNvSpPr>
            <a:spLocks noGrp="1"/>
          </p:cNvSpPr>
          <p:nvPr>
            <p:ph type="body" idx="1"/>
          </p:nvPr>
        </p:nvSpPr>
        <p:spPr>
          <a:xfrm>
            <a:off x="831850" y="2814638"/>
            <a:ext cx="10515600" cy="335756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916DBAF-8EC8-76B5-BD68-4EE498D12AED}"/>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5" name="Footer Placeholder 4">
            <a:extLst>
              <a:ext uri="{FF2B5EF4-FFF2-40B4-BE49-F238E27FC236}">
                <a16:creationId xmlns:a16="http://schemas.microsoft.com/office/drawing/2014/main" id="{14FC1A71-0977-DB43-6672-9DD2B43F0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1AA75-9A52-677C-BAAB-361020BE450C}"/>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1" name="Picture 10">
            <a:extLst>
              <a:ext uri="{FF2B5EF4-FFF2-40B4-BE49-F238E27FC236}">
                <a16:creationId xmlns:a16="http://schemas.microsoft.com/office/drawing/2014/main" id="{14CA6469-707B-4B2D-CE38-C2E80563F8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DB94ABDC-D409-D0CF-BFD9-E874B46B7EEF}"/>
              </a:ext>
            </a:extLst>
          </p:cNvPr>
          <p:cNvGrpSpPr/>
          <p:nvPr userDrawn="1"/>
        </p:nvGrpSpPr>
        <p:grpSpPr>
          <a:xfrm>
            <a:off x="0" y="0"/>
            <a:ext cx="2135014" cy="390908"/>
            <a:chOff x="0" y="0"/>
            <a:chExt cx="2135014" cy="390908"/>
          </a:xfrm>
        </p:grpSpPr>
        <p:sp>
          <p:nvSpPr>
            <p:cNvPr id="21" name="Rectangle 20">
              <a:extLst>
                <a:ext uri="{FF2B5EF4-FFF2-40B4-BE49-F238E27FC236}">
                  <a16:creationId xmlns:a16="http://schemas.microsoft.com/office/drawing/2014/main" id="{15CC8F0A-14AF-F65B-6D14-A51CBEFF1729}"/>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D170A48-ED14-4722-ED48-412F8B7C44AA}"/>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A4B6D801-7EDC-E981-F405-040472A43AB5}"/>
              </a:ext>
            </a:extLst>
          </p:cNvPr>
          <p:cNvGrpSpPr/>
          <p:nvPr userDrawn="1"/>
        </p:nvGrpSpPr>
        <p:grpSpPr>
          <a:xfrm>
            <a:off x="11930388" y="4900065"/>
            <a:ext cx="261612" cy="1456285"/>
            <a:chOff x="-7479" y="4982614"/>
            <a:chExt cx="261612" cy="1456285"/>
          </a:xfrm>
        </p:grpSpPr>
        <p:sp>
          <p:nvSpPr>
            <p:cNvPr id="32" name="Rectangle 31">
              <a:extLst>
                <a:ext uri="{FF2B5EF4-FFF2-40B4-BE49-F238E27FC236}">
                  <a16:creationId xmlns:a16="http://schemas.microsoft.com/office/drawing/2014/main" id="{790F7BDA-9A67-4500-FC96-D0DCA5669FC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6D3808A-7510-8E14-D035-56A7CA6C58A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8422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45FB79D-2789-2E82-ACD5-FA141CFFB85B}"/>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306C3F4-36B0-1561-8EFF-3B31A7774228}"/>
              </a:ext>
            </a:extLst>
          </p:cNvPr>
          <p:cNvSpPr>
            <a:spLocks noGrp="1"/>
          </p:cNvSpPr>
          <p:nvPr>
            <p:ph type="ctrTitle"/>
          </p:nvPr>
        </p:nvSpPr>
        <p:spPr>
          <a:xfrm>
            <a:off x="1524000" y="1122363"/>
            <a:ext cx="9144000" cy="1381125"/>
          </a:xfrm>
        </p:spPr>
        <p:txBody>
          <a:bodyPr anchor="t">
            <a:normAutofit/>
          </a:bodyPr>
          <a:lstStyle>
            <a:lvl1pPr algn="l">
              <a:defRPr sz="4000">
                <a:latin typeface="+mn-lt"/>
              </a:defRPr>
            </a:lvl1pPr>
          </a:lstStyle>
          <a:p>
            <a:r>
              <a:rPr lang="en-US" dirty="0"/>
              <a:t>Click to edit Master title style</a:t>
            </a:r>
          </a:p>
        </p:txBody>
      </p:sp>
      <p:sp>
        <p:nvSpPr>
          <p:cNvPr id="3" name="Subtitle 2">
            <a:extLst>
              <a:ext uri="{FF2B5EF4-FFF2-40B4-BE49-F238E27FC236}">
                <a16:creationId xmlns:a16="http://schemas.microsoft.com/office/drawing/2014/main" id="{FDC4E23C-BC64-3E31-C7C9-1CCB71C593F3}"/>
              </a:ext>
            </a:extLst>
          </p:cNvPr>
          <p:cNvSpPr>
            <a:spLocks noGrp="1"/>
          </p:cNvSpPr>
          <p:nvPr>
            <p:ph type="subTitle" idx="1"/>
          </p:nvPr>
        </p:nvSpPr>
        <p:spPr>
          <a:xfrm>
            <a:off x="1524000" y="2601118"/>
            <a:ext cx="9144000" cy="3461751"/>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8BAAB4A-F681-D1CE-536F-A8600B878509}"/>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5" name="Footer Placeholder 4">
            <a:extLst>
              <a:ext uri="{FF2B5EF4-FFF2-40B4-BE49-F238E27FC236}">
                <a16:creationId xmlns:a16="http://schemas.microsoft.com/office/drawing/2014/main" id="{5872C815-2D69-C272-C63C-A195EBFE3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7A072-5E8E-BDBB-35CA-3A355E5D5FFB}"/>
              </a:ext>
            </a:extLst>
          </p:cNvPr>
          <p:cNvSpPr>
            <a:spLocks noGrp="1"/>
          </p:cNvSpPr>
          <p:nvPr>
            <p:ph type="sldNum" sz="quarter" idx="12"/>
          </p:nvPr>
        </p:nvSpPr>
        <p:spPr/>
        <p:txBody>
          <a:bodyPr/>
          <a:lstStyle>
            <a:lvl1pPr>
              <a:defRPr>
                <a:solidFill>
                  <a:srgbClr val="6C1D35"/>
                </a:solidFill>
              </a:defRPr>
            </a:lvl1p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1AFB2FEB-1CDE-753F-3231-2131ED23FF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60EA2A08-0768-E840-71C5-CB5BA198C844}"/>
              </a:ext>
            </a:extLst>
          </p:cNvPr>
          <p:cNvGrpSpPr/>
          <p:nvPr userDrawn="1"/>
        </p:nvGrpSpPr>
        <p:grpSpPr>
          <a:xfrm>
            <a:off x="0" y="336866"/>
            <a:ext cx="838200" cy="390908"/>
            <a:chOff x="0" y="585597"/>
            <a:chExt cx="838200" cy="390908"/>
          </a:xfrm>
        </p:grpSpPr>
        <p:sp>
          <p:nvSpPr>
            <p:cNvPr id="22" name="Rectangle 21">
              <a:extLst>
                <a:ext uri="{FF2B5EF4-FFF2-40B4-BE49-F238E27FC236}">
                  <a16:creationId xmlns:a16="http://schemas.microsoft.com/office/drawing/2014/main" id="{87FE56D3-CDFF-99C8-081E-21872711345C}"/>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5D81439-E4CF-3498-4773-82E6A34DB949}"/>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4F56CB3B-27D6-0844-017F-CFA08F52311B}"/>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845E31CA-977D-9659-5E4D-1E4EC75ABA7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4385F2-2245-0F8C-C446-564E2DE5084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065987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5386308-8E2B-C701-D9C5-CFF5B6D9F8D4}"/>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Title 1">
            <a:extLst>
              <a:ext uri="{FF2B5EF4-FFF2-40B4-BE49-F238E27FC236}">
                <a16:creationId xmlns:a16="http://schemas.microsoft.com/office/drawing/2014/main" id="{048221F6-B30E-6574-4F98-77B2C4903734}"/>
              </a:ext>
            </a:extLst>
          </p:cNvPr>
          <p:cNvSpPr>
            <a:spLocks noGrp="1"/>
          </p:cNvSpPr>
          <p:nvPr>
            <p:ph type="title"/>
          </p:nvPr>
        </p:nvSpPr>
        <p:spPr/>
        <p:txBody>
          <a:bodyPr>
            <a:normAutofit/>
          </a:bodyPr>
          <a:lstStyle>
            <a:lvl1pPr algn="ct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DB6BEFF-E786-80CC-C462-EC9F1C9C357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B6CF37-673E-EFC4-46AD-C8B8CC64E1D0}"/>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5" name="Footer Placeholder 4">
            <a:extLst>
              <a:ext uri="{FF2B5EF4-FFF2-40B4-BE49-F238E27FC236}">
                <a16:creationId xmlns:a16="http://schemas.microsoft.com/office/drawing/2014/main" id="{9C3B8A85-2B88-6B89-6CF8-4D396AB7B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4774E-879A-AA6A-5AEF-0FD775B9793F}"/>
              </a:ext>
            </a:extLst>
          </p:cNvPr>
          <p:cNvSpPr>
            <a:spLocks noGrp="1"/>
          </p:cNvSpPr>
          <p:nvPr>
            <p:ph type="sldNum" sz="quarter" idx="12"/>
          </p:nvPr>
        </p:nvSpPr>
        <p:spPr/>
        <p:txBody>
          <a:bodyPr/>
          <a:lstStyle/>
          <a:p>
            <a:fld id="{B5912E74-8957-4046-8937-1199D0665174}" type="slidenum">
              <a:rPr lang="en-US" smtClean="0"/>
              <a:t>‹#›</a:t>
            </a:fld>
            <a:endParaRPr lang="en-US"/>
          </a:p>
        </p:txBody>
      </p:sp>
      <p:sp>
        <p:nvSpPr>
          <p:cNvPr id="8" name="Rectangle 7">
            <a:extLst>
              <a:ext uri="{FF2B5EF4-FFF2-40B4-BE49-F238E27FC236}">
                <a16:creationId xmlns:a16="http://schemas.microsoft.com/office/drawing/2014/main" id="{68F9B18A-4C13-213C-5ECD-7D00902A82F8}"/>
              </a:ext>
            </a:extLst>
          </p:cNvPr>
          <p:cNvSpPr/>
          <p:nvPr userDrawn="1"/>
        </p:nvSpPr>
        <p:spPr>
          <a:xfrm>
            <a:off x="3894421" y="21431"/>
            <a:ext cx="4460168"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8A0DAC0-1D7C-425C-A3EA-189775AB00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3A6FB34-FC21-998E-F2ED-B41CC15A4311}"/>
              </a:ext>
            </a:extLst>
          </p:cNvPr>
          <p:cNvSpPr/>
          <p:nvPr userDrawn="1"/>
        </p:nvSpPr>
        <p:spPr>
          <a:xfrm>
            <a:off x="-1" y="6808662"/>
            <a:ext cx="12249013"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91E5DFC-83E6-86F2-21A3-C9353A831D94}"/>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00E6CDA0-D409-8B80-7C3D-EE78328F12C7}"/>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1DCC3F2-36B2-C662-DECB-01503AFCAA9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848066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60D2230-4C54-C188-62C4-95CC76262BA7}"/>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11" name="Rectangle 10">
            <a:extLst>
              <a:ext uri="{FF2B5EF4-FFF2-40B4-BE49-F238E27FC236}">
                <a16:creationId xmlns:a16="http://schemas.microsoft.com/office/drawing/2014/main" id="{1466CAA0-852B-2260-4E79-4DCDC5D3C474}"/>
              </a:ext>
            </a:extLst>
          </p:cNvPr>
          <p:cNvSpPr/>
          <p:nvPr userDrawn="1"/>
        </p:nvSpPr>
        <p:spPr>
          <a:xfrm>
            <a:off x="-38100" y="1690688"/>
            <a:ext cx="12230100"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09984-B07C-717A-A1FC-A0212B127BE0}"/>
              </a:ext>
            </a:extLst>
          </p:cNvPr>
          <p:cNvSpPr>
            <a:spLocks noGrp="1"/>
          </p:cNvSpPr>
          <p:nvPr>
            <p:ph type="title"/>
          </p:nvPr>
        </p:nvSpPr>
        <p:spPr/>
        <p:txBody>
          <a:bodyPr>
            <a:normAutofit/>
          </a:bodyPr>
          <a:lstStyle>
            <a:lvl1pP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D7D56CC2-F4AE-C871-25CA-0693B8E51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04C4D5-028B-CF4F-DB83-2E7DAE1451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84ECB3-6230-1C4A-4271-8B1B329A9B88}"/>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6" name="Footer Placeholder 5">
            <a:extLst>
              <a:ext uri="{FF2B5EF4-FFF2-40B4-BE49-F238E27FC236}">
                <a16:creationId xmlns:a16="http://schemas.microsoft.com/office/drawing/2014/main" id="{A9D0EBE9-6EE3-30E5-37E9-966CEBBA4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42C9F-71DE-08A3-B2D8-60F040A88956}"/>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431BACEB-C3CA-5C73-C1CD-7E28828923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8" name="Group 7">
            <a:extLst>
              <a:ext uri="{FF2B5EF4-FFF2-40B4-BE49-F238E27FC236}">
                <a16:creationId xmlns:a16="http://schemas.microsoft.com/office/drawing/2014/main" id="{F32450C2-7E85-EAB2-8C8F-8B13B9657507}"/>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E593644A-0A35-6B8C-F216-AC1945DFC79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806244-EF9A-642C-8573-A2BFA17DB33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6536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169F28-4F60-04EA-2355-80F723258DB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7D3BD4A-F379-8CFF-EBD6-707DD0E70908}"/>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D159623-7488-E134-22F1-5329048ED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D7D39-C4CD-9439-3408-FF0BFA1B1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750B8F-83C3-D985-5919-F1A3FDF4D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CF953-DD56-9B85-AB4B-B9C9F0FF06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D25C81-2863-04F8-8182-D218BA273C24}"/>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8" name="Footer Placeholder 7">
            <a:extLst>
              <a:ext uri="{FF2B5EF4-FFF2-40B4-BE49-F238E27FC236}">
                <a16:creationId xmlns:a16="http://schemas.microsoft.com/office/drawing/2014/main" id="{A3A521E1-8180-A360-8696-A84620A87D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3D6C59-8054-7190-9FD8-FAA596348D42}"/>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2" name="Picture 11">
            <a:extLst>
              <a:ext uri="{FF2B5EF4-FFF2-40B4-BE49-F238E27FC236}">
                <a16:creationId xmlns:a16="http://schemas.microsoft.com/office/drawing/2014/main" id="{C023B567-24C2-C088-6F75-913992BE2D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5" name="Rectangle 14">
            <a:extLst>
              <a:ext uri="{FF2B5EF4-FFF2-40B4-BE49-F238E27FC236}">
                <a16:creationId xmlns:a16="http://schemas.microsoft.com/office/drawing/2014/main" id="{A32B20C0-22D4-422D-2940-7F540F191BF7}"/>
              </a:ext>
            </a:extLst>
          </p:cNvPr>
          <p:cNvSpPr/>
          <p:nvPr userDrawn="1"/>
        </p:nvSpPr>
        <p:spPr>
          <a:xfrm>
            <a:off x="6764" y="342265"/>
            <a:ext cx="1026963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870257A-EF80-EF1A-EE95-68EB9FBC2F71}"/>
              </a:ext>
            </a:extLst>
          </p:cNvPr>
          <p:cNvGrpSpPr/>
          <p:nvPr userDrawn="1"/>
        </p:nvGrpSpPr>
        <p:grpSpPr>
          <a:xfrm>
            <a:off x="11930388" y="4900065"/>
            <a:ext cx="261612" cy="1456285"/>
            <a:chOff x="-7479" y="4982614"/>
            <a:chExt cx="261612" cy="1456285"/>
          </a:xfrm>
        </p:grpSpPr>
        <p:sp>
          <p:nvSpPr>
            <p:cNvPr id="13" name="Rectangle 12">
              <a:extLst>
                <a:ext uri="{FF2B5EF4-FFF2-40B4-BE49-F238E27FC236}">
                  <a16:creationId xmlns:a16="http://schemas.microsoft.com/office/drawing/2014/main" id="{BAEA7E83-8757-44B8-B8ED-EFD855548FA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603E4A3-2F29-E99E-59AA-19FD2D71718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4019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5A05E41-FECA-555C-4DA5-FBDABE88EAD3}"/>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13" name="Group 12">
            <a:extLst>
              <a:ext uri="{FF2B5EF4-FFF2-40B4-BE49-F238E27FC236}">
                <a16:creationId xmlns:a16="http://schemas.microsoft.com/office/drawing/2014/main" id="{6EFDB3D2-BABB-4614-ACBD-74206D54EFA7}"/>
              </a:ext>
            </a:extLst>
          </p:cNvPr>
          <p:cNvGrpSpPr/>
          <p:nvPr userDrawn="1"/>
        </p:nvGrpSpPr>
        <p:grpSpPr>
          <a:xfrm flipH="1">
            <a:off x="8896479" y="6438899"/>
            <a:ext cx="3295521" cy="419101"/>
            <a:chOff x="0" y="6438899"/>
            <a:chExt cx="4425450" cy="419100"/>
          </a:xfrm>
        </p:grpSpPr>
        <p:sp>
          <p:nvSpPr>
            <p:cNvPr id="14" name="Rectangle 13">
              <a:extLst>
                <a:ext uri="{FF2B5EF4-FFF2-40B4-BE49-F238E27FC236}">
                  <a16:creationId xmlns:a16="http://schemas.microsoft.com/office/drawing/2014/main" id="{B3C9DBE5-42FF-593C-82CE-C4B2774E3AD0}"/>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D8516993-C2D5-28D4-6E6E-D3A5B19FD20F}"/>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EB218D0-0E4A-6601-1430-D75D1D89819B}"/>
              </a:ext>
            </a:extLst>
          </p:cNvPr>
          <p:cNvSpPr>
            <a:spLocks noGrp="1"/>
          </p:cNvSpPr>
          <p:nvPr>
            <p:ph type="title"/>
          </p:nvPr>
        </p:nvSpPr>
        <p:spPr>
          <a:xfrm>
            <a:off x="1364974" y="2766218"/>
            <a:ext cx="10515600" cy="1325563"/>
          </a:xfrm>
        </p:spPr>
        <p:txBody>
          <a:bodyPr/>
          <a:lstStyle>
            <a:lvl1pPr>
              <a:defRPr>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65407DD1-72E8-53B4-A8B5-16105BC66947}"/>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4" name="Footer Placeholder 3">
            <a:extLst>
              <a:ext uri="{FF2B5EF4-FFF2-40B4-BE49-F238E27FC236}">
                <a16:creationId xmlns:a16="http://schemas.microsoft.com/office/drawing/2014/main" id="{F3621DE3-618B-CDA6-C30A-1DB7F4E9C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568125-E5E8-EEE2-D064-3848DBBA63B9}"/>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19F13517-FB38-BE9B-5A77-235BBF8CE8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6" name="Group 5">
            <a:extLst>
              <a:ext uri="{FF2B5EF4-FFF2-40B4-BE49-F238E27FC236}">
                <a16:creationId xmlns:a16="http://schemas.microsoft.com/office/drawing/2014/main" id="{715FA5D2-1257-770C-1E2F-2CCA5238FD2A}"/>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F29FA834-B150-3245-D347-588904243A5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EF11FA-4280-83FF-5E5F-70581310F2C4}"/>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61166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C80EC996-29B5-35CD-CAA8-09FAAB535A3F}"/>
              </a:ext>
            </a:extLst>
          </p:cNvPr>
          <p:cNvPicPr>
            <a:picLocks noChangeAspect="1"/>
          </p:cNvPicPr>
          <p:nvPr userDrawn="1"/>
        </p:nvPicPr>
        <p:blipFill>
          <a:blip r:embed="rId2"/>
          <a:stretch>
            <a:fillRect/>
          </a:stretch>
        </p:blipFill>
        <p:spPr>
          <a:xfrm rot="10800000" flipV="1">
            <a:off x="4713261" y="1270"/>
            <a:ext cx="7112053" cy="1831461"/>
          </a:xfrm>
          <a:prstGeom prst="rect">
            <a:avLst/>
          </a:prstGeom>
        </p:spPr>
      </p:pic>
      <p:sp>
        <p:nvSpPr>
          <p:cNvPr id="10" name="Rectangle 9">
            <a:extLst>
              <a:ext uri="{FF2B5EF4-FFF2-40B4-BE49-F238E27FC236}">
                <a16:creationId xmlns:a16="http://schemas.microsoft.com/office/drawing/2014/main" id="{C4E085B5-6456-E991-6904-BB25D1005185}"/>
              </a:ext>
            </a:extLst>
          </p:cNvPr>
          <p:cNvSpPr/>
          <p:nvPr userDrawn="1"/>
        </p:nvSpPr>
        <p:spPr>
          <a:xfrm>
            <a:off x="-38099" y="0"/>
            <a:ext cx="4764088"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5AF6C-3A58-DD89-B778-7C9B4E4937D6}"/>
              </a:ext>
            </a:extLst>
          </p:cNvPr>
          <p:cNvSpPr>
            <a:spLocks noGrp="1"/>
          </p:cNvSpPr>
          <p:nvPr>
            <p:ph type="title"/>
          </p:nvPr>
        </p:nvSpPr>
        <p:spPr>
          <a:xfrm>
            <a:off x="839788" y="457200"/>
            <a:ext cx="3771969" cy="1600200"/>
          </a:xfrm>
        </p:spPr>
        <p:txBody>
          <a:bodyPr anchor="b">
            <a:normAutofit/>
          </a:bodyPr>
          <a:lstStyle>
            <a:lvl1pPr>
              <a:defRPr sz="28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4C730643-5DEF-0301-05FB-43BFE7810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C84E7D-D23B-8AA6-561F-6482F0A1224C}"/>
              </a:ext>
            </a:extLst>
          </p:cNvPr>
          <p:cNvSpPr>
            <a:spLocks noGrp="1"/>
          </p:cNvSpPr>
          <p:nvPr>
            <p:ph type="body" sz="half" idx="2"/>
          </p:nvPr>
        </p:nvSpPr>
        <p:spPr>
          <a:xfrm>
            <a:off x="839788" y="2057400"/>
            <a:ext cx="37719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060D1C3-135E-09A0-2E54-EFBC9A5D9940}"/>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6" name="Footer Placeholder 5">
            <a:extLst>
              <a:ext uri="{FF2B5EF4-FFF2-40B4-BE49-F238E27FC236}">
                <a16:creationId xmlns:a16="http://schemas.microsoft.com/office/drawing/2014/main" id="{B1E11F67-329D-954C-CD5C-1AA093EC2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5EB87E-06D7-61E3-D9E0-49BF14B3E008}"/>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9" name="Picture 8">
            <a:extLst>
              <a:ext uri="{FF2B5EF4-FFF2-40B4-BE49-F238E27FC236}">
                <a16:creationId xmlns:a16="http://schemas.microsoft.com/office/drawing/2014/main" id="{0C8EA7C3-CAA4-9F46-F633-CAA69D61B6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DD1F696-3383-CCD0-5F6F-4B9E89375262}"/>
              </a:ext>
            </a:extLst>
          </p:cNvPr>
          <p:cNvSpPr/>
          <p:nvPr userDrawn="1"/>
        </p:nvSpPr>
        <p:spPr>
          <a:xfrm rot="5400000">
            <a:off x="1324286" y="3399184"/>
            <a:ext cx="6858000" cy="5963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7DF8517-697A-D659-D645-CCC025297F18}"/>
              </a:ext>
            </a:extLst>
          </p:cNvPr>
          <p:cNvGrpSpPr/>
          <p:nvPr userDrawn="1"/>
        </p:nvGrpSpPr>
        <p:grpSpPr>
          <a:xfrm>
            <a:off x="11930388" y="4900065"/>
            <a:ext cx="261612" cy="1456285"/>
            <a:chOff x="-7479" y="4982614"/>
            <a:chExt cx="261612" cy="1456285"/>
          </a:xfrm>
        </p:grpSpPr>
        <p:sp>
          <p:nvSpPr>
            <p:cNvPr id="12" name="Rectangle 11">
              <a:extLst>
                <a:ext uri="{FF2B5EF4-FFF2-40B4-BE49-F238E27FC236}">
                  <a16:creationId xmlns:a16="http://schemas.microsoft.com/office/drawing/2014/main" id="{028F6DD2-968A-9801-9B22-22DBD1C894E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F835E16-0810-A050-7387-E04FC0CFD8C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120109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BDE0F43-CB86-1C9B-53B1-54930B9BBDB8}"/>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ABA7D5CF-8052-62A2-8652-9E5660A058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5" name="Group 4">
            <a:extLst>
              <a:ext uri="{FF2B5EF4-FFF2-40B4-BE49-F238E27FC236}">
                <a16:creationId xmlns:a16="http://schemas.microsoft.com/office/drawing/2014/main" id="{7CEA865B-9359-931D-9136-36413785F784}"/>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990C6828-16EB-91B9-7078-52ADFDC0F2F1}"/>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BEA9D62-1A2E-5482-2A68-9FCEFEB913F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9613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colo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6208AF-0FB5-0709-9E4A-86BB9C81B267}"/>
              </a:ext>
            </a:extLst>
          </p:cNvPr>
          <p:cNvSpPr/>
          <p:nvPr userDrawn="1"/>
        </p:nvSpPr>
        <p:spPr>
          <a:xfrm>
            <a:off x="-38100" y="0"/>
            <a:ext cx="12230100"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7D46B25-0C92-A630-DD9E-0DC228627926}"/>
              </a:ext>
            </a:extLst>
          </p:cNvPr>
          <p:cNvGrpSpPr/>
          <p:nvPr userDrawn="1"/>
        </p:nvGrpSpPr>
        <p:grpSpPr>
          <a:xfrm>
            <a:off x="7180119" y="6473574"/>
            <a:ext cx="5011881" cy="390911"/>
            <a:chOff x="7180118" y="6489891"/>
            <a:chExt cx="5011881" cy="390911"/>
          </a:xfrm>
        </p:grpSpPr>
        <p:sp>
          <p:nvSpPr>
            <p:cNvPr id="16" name="Rectangle 15">
              <a:extLst>
                <a:ext uri="{FF2B5EF4-FFF2-40B4-BE49-F238E27FC236}">
                  <a16:creationId xmlns:a16="http://schemas.microsoft.com/office/drawing/2014/main" id="{BA51D9DD-D54B-BD6E-1FC0-1E96064A7DD4}"/>
                </a:ext>
              </a:extLst>
            </p:cNvPr>
            <p:cNvSpPr/>
            <p:nvPr userDrawn="1"/>
          </p:nvSpPr>
          <p:spPr>
            <a:xfrm rot="10800000">
              <a:off x="7393415" y="6489891"/>
              <a:ext cx="4798584"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ight Triangle 16">
              <a:extLst>
                <a:ext uri="{FF2B5EF4-FFF2-40B4-BE49-F238E27FC236}">
                  <a16:creationId xmlns:a16="http://schemas.microsoft.com/office/drawing/2014/main" id="{B12D63A4-B45F-D7EE-07AE-ED4F2AA9FBF6}"/>
                </a:ext>
              </a:extLst>
            </p:cNvPr>
            <p:cNvSpPr/>
            <p:nvPr userDrawn="1"/>
          </p:nvSpPr>
          <p:spPr>
            <a:xfrm rot="10800000" flipV="1">
              <a:off x="7180118" y="6489895"/>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CE4DBBFF-D866-CE38-8CC8-48E42BA7EF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76220" y="283589"/>
            <a:ext cx="1470825" cy="497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DEECA337-96B6-AF15-88CE-5A1B9B8EBDB6}"/>
              </a:ext>
            </a:extLst>
          </p:cNvPr>
          <p:cNvGrpSpPr/>
          <p:nvPr userDrawn="1"/>
        </p:nvGrpSpPr>
        <p:grpSpPr>
          <a:xfrm>
            <a:off x="-58882" y="0"/>
            <a:ext cx="2130820" cy="390908"/>
            <a:chOff x="-58882" y="0"/>
            <a:chExt cx="2130820" cy="390908"/>
          </a:xfrm>
        </p:grpSpPr>
        <p:sp>
          <p:nvSpPr>
            <p:cNvPr id="13" name="Rectangle 12">
              <a:extLst>
                <a:ext uri="{FF2B5EF4-FFF2-40B4-BE49-F238E27FC236}">
                  <a16:creationId xmlns:a16="http://schemas.microsoft.com/office/drawing/2014/main" id="{755327DB-3941-6535-2638-26DDF5148B23}"/>
                </a:ext>
              </a:extLst>
            </p:cNvPr>
            <p:cNvSpPr/>
            <p:nvPr userDrawn="1"/>
          </p:nvSpPr>
          <p:spPr>
            <a:xfrm>
              <a:off x="-58882" y="1"/>
              <a:ext cx="1921715"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Triangle 13">
              <a:extLst>
                <a:ext uri="{FF2B5EF4-FFF2-40B4-BE49-F238E27FC236}">
                  <a16:creationId xmlns:a16="http://schemas.microsoft.com/office/drawing/2014/main" id="{751988F2-DBDB-53FA-2E8B-DE674D6D2B6A}"/>
                </a:ext>
              </a:extLst>
            </p:cNvPr>
            <p:cNvSpPr/>
            <p:nvPr userDrawn="1"/>
          </p:nvSpPr>
          <p:spPr>
            <a:xfrm flipV="1">
              <a:off x="1858639" y="0"/>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A5B451E3-7C30-F7E8-27F1-20A1711850CE}"/>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2AF9E3A6-8792-EBEF-E21F-6506CA347F7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D7814D-56F3-7C85-157F-E73DAB5F042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2828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6073139" y="761174"/>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1/20/2025</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6079906" y="-6086095"/>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9975F-708A-F234-4722-AEB234342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87F26E-314A-B65E-03F9-0EADD49DAA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C2CC6-2915-3AF9-A194-7961055772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959E7-45DE-4A2D-ACFD-0D8C8BBAB79F}" type="datetimeFigureOut">
              <a:rPr lang="en-US" smtClean="0"/>
              <a:t>1/20/2025</a:t>
            </a:fld>
            <a:endParaRPr lang="en-US"/>
          </a:p>
        </p:txBody>
      </p:sp>
      <p:sp>
        <p:nvSpPr>
          <p:cNvPr id="5" name="Footer Placeholder 4">
            <a:extLst>
              <a:ext uri="{FF2B5EF4-FFF2-40B4-BE49-F238E27FC236}">
                <a16:creationId xmlns:a16="http://schemas.microsoft.com/office/drawing/2014/main" id="{4994C745-1356-0A9F-002D-66D467AF4D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C9A2B0-BC9C-678A-D6F9-6A0D62CAA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1015553595"/>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6" r:id="rId3"/>
    <p:sldLayoutId id="2147483662" r:id="rId4"/>
    <p:sldLayoutId id="2147483651" r:id="rId5"/>
    <p:sldLayoutId id="2147483649" r:id="rId6"/>
    <p:sldLayoutId id="2147483650" r:id="rId7"/>
    <p:sldLayoutId id="2147483652" r:id="rId8"/>
    <p:sldLayoutId id="2147483653" r:id="rId9"/>
    <p:sldLayoutId id="2147483654" r:id="rId10"/>
    <p:sldLayoutId id="2147483656" r:id="rId11"/>
    <p:sldLayoutId id="2147483655" r:id="rId12"/>
    <p:sldLayoutId id="2147483660" r:id="rId13"/>
    <p:sldLayoutId id="2147483657" r:id="rId14"/>
    <p:sldLayoutId id="2147483663" r:id="rId15"/>
  </p:sldLayoutIdLst>
  <p:txStyles>
    <p:titleStyle>
      <a:lvl1pPr algn="l" defTabSz="914400" rtl="0" eaLnBrk="1" latinLnBrk="0" hangingPunct="1">
        <a:lnSpc>
          <a:spcPct val="90000"/>
        </a:lnSpc>
        <a:spcBef>
          <a:spcPct val="0"/>
        </a:spcBef>
        <a:buNone/>
        <a:defRPr sz="40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8.xml"/><Relationship Id="rId4" Type="http://schemas.openxmlformats.org/officeDocument/2006/relationships/image" Target="../media/image22.jp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jpg"/><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hyperlink" Target="https://youtu.be/OewG4Q3L9wg" TargetMode="External"/><Relationship Id="rId5" Type="http://schemas.openxmlformats.org/officeDocument/2006/relationships/image" Target="../media/image31.sv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2B2362F-EF82-97D1-8085-902821FA1D5F}"/>
              </a:ext>
            </a:extLst>
          </p:cNvPr>
          <p:cNvSpPr txBox="1"/>
          <p:nvPr/>
        </p:nvSpPr>
        <p:spPr>
          <a:xfrm>
            <a:off x="1706782" y="4175072"/>
            <a:ext cx="10350100" cy="1107996"/>
          </a:xfrm>
          <a:prstGeom prst="rect">
            <a:avLst/>
          </a:prstGeom>
          <a:noFill/>
        </p:spPr>
        <p:txBody>
          <a:bodyPr wrap="square" rtlCol="0">
            <a:spAutoFit/>
          </a:bodyPr>
          <a:lstStyle/>
          <a:p>
            <a:r>
              <a:rPr lang="en-MY" sz="1600" spc="300" dirty="0">
                <a:solidFill>
                  <a:schemeClr val="bg1"/>
                </a:solidFill>
              </a:rPr>
              <a:t>Student Name : Koo Xuan</a:t>
            </a:r>
          </a:p>
          <a:p>
            <a:r>
              <a:rPr lang="en-MY" sz="1600" spc="300" dirty="0">
                <a:solidFill>
                  <a:schemeClr val="bg1"/>
                </a:solidFill>
              </a:rPr>
              <a:t>Matric No. : A23CS0300</a:t>
            </a:r>
          </a:p>
          <a:p>
            <a:r>
              <a:rPr lang="en-MY" sz="1600" spc="300" dirty="0">
                <a:solidFill>
                  <a:schemeClr val="bg1"/>
                </a:solidFill>
              </a:rPr>
              <a:t>Section : 01</a:t>
            </a:r>
          </a:p>
          <a:p>
            <a:r>
              <a:rPr lang="en-MY" sz="1600" spc="300" dirty="0">
                <a:solidFill>
                  <a:schemeClr val="bg1"/>
                </a:solidFill>
              </a:rPr>
              <a:t>Team ID &amp; name: 08 (MINDWELL ORGANIZATION-</a:t>
            </a:r>
            <a:r>
              <a:rPr lang="en-MY" b="1" dirty="0">
                <a:solidFill>
                  <a:schemeClr val="bg1"/>
                </a:solidFill>
              </a:rPr>
              <a:t>SELF HELP SYSTEM)</a:t>
            </a:r>
            <a:r>
              <a:rPr lang="en-MY" sz="1600" spc="300" dirty="0">
                <a:solidFill>
                  <a:schemeClr val="bg1"/>
                </a:solidFill>
              </a:rPr>
              <a:t> </a:t>
            </a:r>
          </a:p>
        </p:txBody>
      </p:sp>
      <p:sp>
        <p:nvSpPr>
          <p:cNvPr id="9" name="TextBox 8">
            <a:extLst>
              <a:ext uri="{FF2B5EF4-FFF2-40B4-BE49-F238E27FC236}">
                <a16:creationId xmlns:a16="http://schemas.microsoft.com/office/drawing/2014/main" id="{E187E90E-A947-F2E4-F188-4C78E30FFB14}"/>
              </a:ext>
            </a:extLst>
          </p:cNvPr>
          <p:cNvSpPr txBox="1"/>
          <p:nvPr/>
        </p:nvSpPr>
        <p:spPr>
          <a:xfrm>
            <a:off x="1706782" y="3094065"/>
            <a:ext cx="8065867" cy="584775"/>
          </a:xfrm>
          <a:prstGeom prst="rect">
            <a:avLst/>
          </a:prstGeom>
          <a:noFill/>
        </p:spPr>
        <p:txBody>
          <a:bodyPr wrap="square" rtlCol="0">
            <a:spAutoFit/>
          </a:bodyPr>
          <a:lstStyle/>
          <a:p>
            <a:r>
              <a:rPr lang="en-MY" sz="3200" spc="300" dirty="0">
                <a:solidFill>
                  <a:schemeClr val="bg1"/>
                </a:solidFill>
              </a:rPr>
              <a:t>SELF REFLECTION VIDEO: LEADERSHIP</a:t>
            </a:r>
          </a:p>
        </p:txBody>
      </p:sp>
      <p:sp>
        <p:nvSpPr>
          <p:cNvPr id="10" name="TextBox 9">
            <a:extLst>
              <a:ext uri="{FF2B5EF4-FFF2-40B4-BE49-F238E27FC236}">
                <a16:creationId xmlns:a16="http://schemas.microsoft.com/office/drawing/2014/main" id="{F9A31FEC-C1AB-A4DF-DA31-FC4B7684A9DD}"/>
              </a:ext>
            </a:extLst>
          </p:cNvPr>
          <p:cNvSpPr txBox="1"/>
          <p:nvPr/>
        </p:nvSpPr>
        <p:spPr>
          <a:xfrm>
            <a:off x="1706783" y="1997097"/>
            <a:ext cx="9471757" cy="707886"/>
          </a:xfrm>
          <a:prstGeom prst="rect">
            <a:avLst/>
          </a:prstGeom>
          <a:noFill/>
        </p:spPr>
        <p:txBody>
          <a:bodyPr wrap="square" rtlCol="0">
            <a:spAutoFit/>
          </a:bodyPr>
          <a:lstStyle/>
          <a:p>
            <a:r>
              <a:rPr lang="en-US" sz="4000" b="1" kern="0" dirty="0">
                <a:solidFill>
                  <a:schemeClr val="bg1"/>
                </a:solidFill>
              </a:rPr>
              <a:t>SECJ 2203 SOFTWARE ENGINEERING</a:t>
            </a:r>
          </a:p>
        </p:txBody>
      </p:sp>
      <p:pic>
        <p:nvPicPr>
          <p:cNvPr id="11" name="Picture 10">
            <a:extLst>
              <a:ext uri="{FF2B5EF4-FFF2-40B4-BE49-F238E27FC236}">
                <a16:creationId xmlns:a16="http://schemas.microsoft.com/office/drawing/2014/main" id="{E1FBF1DA-5BFF-1707-4D4A-FFFB821B06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6783" y="731099"/>
            <a:ext cx="2139445" cy="723600"/>
          </a:xfrm>
          <a:prstGeom prst="rect">
            <a:avLst/>
          </a:prstGeom>
        </p:spPr>
      </p:pic>
      <p:grpSp>
        <p:nvGrpSpPr>
          <p:cNvPr id="19" name="Group 18">
            <a:extLst>
              <a:ext uri="{FF2B5EF4-FFF2-40B4-BE49-F238E27FC236}">
                <a16:creationId xmlns:a16="http://schemas.microsoft.com/office/drawing/2014/main" id="{8526A73A-E833-94D8-3B96-626DBBC27FC5}"/>
              </a:ext>
            </a:extLst>
          </p:cNvPr>
          <p:cNvGrpSpPr/>
          <p:nvPr/>
        </p:nvGrpSpPr>
        <p:grpSpPr>
          <a:xfrm>
            <a:off x="243682" y="3008152"/>
            <a:ext cx="838200" cy="841694"/>
            <a:chOff x="0" y="585597"/>
            <a:chExt cx="838200" cy="390908"/>
          </a:xfrm>
          <a:solidFill>
            <a:schemeClr val="bg1">
              <a:lumMod val="65000"/>
            </a:schemeClr>
          </a:solidFill>
        </p:grpSpPr>
        <p:sp>
          <p:nvSpPr>
            <p:cNvPr id="20" name="Rectangle 19">
              <a:extLst>
                <a:ext uri="{FF2B5EF4-FFF2-40B4-BE49-F238E27FC236}">
                  <a16:creationId xmlns:a16="http://schemas.microsoft.com/office/drawing/2014/main" id="{AF9D891E-647D-0389-6628-4EE6EB7D852C}"/>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1" name="Right Triangle 20">
              <a:extLst>
                <a:ext uri="{FF2B5EF4-FFF2-40B4-BE49-F238E27FC236}">
                  <a16:creationId xmlns:a16="http://schemas.microsoft.com/office/drawing/2014/main" id="{D91420ED-5903-A743-073E-ED4B56F92DD2}"/>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16" name="Group 15">
            <a:extLst>
              <a:ext uri="{FF2B5EF4-FFF2-40B4-BE49-F238E27FC236}">
                <a16:creationId xmlns:a16="http://schemas.microsoft.com/office/drawing/2014/main" id="{C20E858A-4845-23C9-B443-2E55F05FAEF2}"/>
              </a:ext>
            </a:extLst>
          </p:cNvPr>
          <p:cNvGrpSpPr/>
          <p:nvPr/>
        </p:nvGrpSpPr>
        <p:grpSpPr>
          <a:xfrm>
            <a:off x="0" y="3008153"/>
            <a:ext cx="838200" cy="841694"/>
            <a:chOff x="0" y="585597"/>
            <a:chExt cx="838200" cy="390908"/>
          </a:xfrm>
          <a:solidFill>
            <a:schemeClr val="bg1"/>
          </a:solidFill>
        </p:grpSpPr>
        <p:sp>
          <p:nvSpPr>
            <p:cNvPr id="17" name="Rectangle 16">
              <a:extLst>
                <a:ext uri="{FF2B5EF4-FFF2-40B4-BE49-F238E27FC236}">
                  <a16:creationId xmlns:a16="http://schemas.microsoft.com/office/drawing/2014/main" id="{BAE28CBC-C49B-EEF2-721E-8E91D122E2BA}"/>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8" name="Right Triangle 17">
              <a:extLst>
                <a:ext uri="{FF2B5EF4-FFF2-40B4-BE49-F238E27FC236}">
                  <a16:creationId xmlns:a16="http://schemas.microsoft.com/office/drawing/2014/main" id="{C51E1D26-9907-4A93-EEED-313B135BF054}"/>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pic>
        <p:nvPicPr>
          <p:cNvPr id="2" name="Picture 1">
            <a:extLst>
              <a:ext uri="{FF2B5EF4-FFF2-40B4-BE49-F238E27FC236}">
                <a16:creationId xmlns:a16="http://schemas.microsoft.com/office/drawing/2014/main" id="{A0B02FD5-EB1B-0B91-AD16-E933188FD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6513" y="6383329"/>
            <a:ext cx="2525487" cy="190060"/>
          </a:xfrm>
          <a:prstGeom prst="rect">
            <a:avLst/>
          </a:prstGeom>
        </p:spPr>
      </p:pic>
      <p:cxnSp>
        <p:nvCxnSpPr>
          <p:cNvPr id="5" name="Straight Connector 4">
            <a:extLst>
              <a:ext uri="{FF2B5EF4-FFF2-40B4-BE49-F238E27FC236}">
                <a16:creationId xmlns:a16="http://schemas.microsoft.com/office/drawing/2014/main" id="{B811AF99-4926-2858-7547-4E76321CA805}"/>
              </a:ext>
            </a:extLst>
          </p:cNvPr>
          <p:cNvCxnSpPr>
            <a:cxnSpLocks/>
            <a:endCxn id="2" idx="1"/>
          </p:cNvCxnSpPr>
          <p:nvPr/>
        </p:nvCxnSpPr>
        <p:spPr>
          <a:xfrm>
            <a:off x="-46838" y="6448292"/>
            <a:ext cx="9713351" cy="3006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5ED30CE-414F-483A-90A0-B79BB01D6013}"/>
              </a:ext>
            </a:extLst>
          </p:cNvPr>
          <p:cNvSpPr txBox="1"/>
          <p:nvPr/>
        </p:nvSpPr>
        <p:spPr>
          <a:xfrm>
            <a:off x="3778733" y="5198008"/>
            <a:ext cx="3498073" cy="577081"/>
          </a:xfrm>
          <a:prstGeom prst="rect">
            <a:avLst/>
          </a:prstGeom>
          <a:noFill/>
        </p:spPr>
        <p:txBody>
          <a:bodyPr wrap="none" rtlCol="0">
            <a:spAutoFit/>
          </a:bodyPr>
          <a:lstStyle/>
          <a:p>
            <a:pPr marL="285750" indent="-285750">
              <a:buFontTx/>
              <a:buChar char="-"/>
            </a:pPr>
            <a:r>
              <a:rPr lang="en-MY" sz="1050" dirty="0">
                <a:solidFill>
                  <a:schemeClr val="bg1"/>
                </a:solidFill>
              </a:rPr>
              <a:t>Nurul </a:t>
            </a:r>
            <a:r>
              <a:rPr lang="en-MY" sz="1050" dirty="0" err="1">
                <a:solidFill>
                  <a:schemeClr val="bg1"/>
                </a:solidFill>
              </a:rPr>
              <a:t>Athirah</a:t>
            </a:r>
            <a:r>
              <a:rPr lang="en-MY" sz="1050" dirty="0">
                <a:solidFill>
                  <a:schemeClr val="bg1"/>
                </a:solidFill>
              </a:rPr>
              <a:t> </a:t>
            </a:r>
            <a:r>
              <a:rPr lang="en-MY" sz="1050" dirty="0" err="1">
                <a:solidFill>
                  <a:schemeClr val="bg1"/>
                </a:solidFill>
              </a:rPr>
              <a:t>Syafiqah</a:t>
            </a:r>
            <a:r>
              <a:rPr lang="en-MY" sz="1050" dirty="0">
                <a:solidFill>
                  <a:schemeClr val="bg1"/>
                </a:solidFill>
              </a:rPr>
              <a:t> </a:t>
            </a:r>
            <a:r>
              <a:rPr lang="en-MY" sz="1050" dirty="0" err="1">
                <a:solidFill>
                  <a:schemeClr val="bg1"/>
                </a:solidFill>
              </a:rPr>
              <a:t>binti</a:t>
            </a:r>
            <a:r>
              <a:rPr lang="en-MY" sz="1050" dirty="0">
                <a:solidFill>
                  <a:schemeClr val="bg1"/>
                </a:solidFill>
              </a:rPr>
              <a:t> </a:t>
            </a:r>
            <a:r>
              <a:rPr lang="en-MY" sz="1050" dirty="0" err="1">
                <a:solidFill>
                  <a:schemeClr val="bg1"/>
                </a:solidFill>
              </a:rPr>
              <a:t>Mohd</a:t>
            </a:r>
            <a:r>
              <a:rPr lang="en-MY" sz="1050" dirty="0">
                <a:solidFill>
                  <a:schemeClr val="bg1"/>
                </a:solidFill>
              </a:rPr>
              <a:t> Razali (A23CS0163)</a:t>
            </a:r>
          </a:p>
          <a:p>
            <a:pPr marL="285750" indent="-285750">
              <a:buFontTx/>
              <a:buChar char="-"/>
            </a:pPr>
            <a:r>
              <a:rPr lang="en-MY" sz="1050" dirty="0">
                <a:solidFill>
                  <a:schemeClr val="bg1"/>
                </a:solidFill>
              </a:rPr>
              <a:t>Muhammad Hafiz Bin </a:t>
            </a:r>
            <a:r>
              <a:rPr lang="en-MY" sz="1050" dirty="0" err="1">
                <a:solidFill>
                  <a:schemeClr val="bg1"/>
                </a:solidFill>
              </a:rPr>
              <a:t>Mohd</a:t>
            </a:r>
            <a:r>
              <a:rPr lang="en-MY" sz="1050" dirty="0">
                <a:solidFill>
                  <a:schemeClr val="bg1"/>
                </a:solidFill>
              </a:rPr>
              <a:t> </a:t>
            </a:r>
            <a:r>
              <a:rPr lang="en-MY" sz="1050" dirty="0" err="1">
                <a:solidFill>
                  <a:schemeClr val="bg1"/>
                </a:solidFill>
              </a:rPr>
              <a:t>Shaharuddin</a:t>
            </a:r>
            <a:r>
              <a:rPr lang="en-MY" sz="1050" dirty="0">
                <a:solidFill>
                  <a:schemeClr val="bg1"/>
                </a:solidFill>
              </a:rPr>
              <a:t>  (A23CS0130)</a:t>
            </a:r>
          </a:p>
          <a:p>
            <a:pPr marL="285750" indent="-285750">
              <a:buFontTx/>
              <a:buChar char="-"/>
            </a:pPr>
            <a:r>
              <a:rPr lang="en-MY" sz="1050" dirty="0" err="1">
                <a:solidFill>
                  <a:schemeClr val="bg1"/>
                </a:solidFill>
              </a:rPr>
              <a:t>Phavanee</a:t>
            </a:r>
            <a:r>
              <a:rPr lang="en-MY" sz="1050" dirty="0">
                <a:solidFill>
                  <a:schemeClr val="bg1"/>
                </a:solidFill>
              </a:rPr>
              <a:t> </a:t>
            </a:r>
            <a:r>
              <a:rPr lang="en-MY" sz="1050" dirty="0" err="1">
                <a:solidFill>
                  <a:schemeClr val="bg1"/>
                </a:solidFill>
              </a:rPr>
              <a:t>Katriya</a:t>
            </a:r>
            <a:r>
              <a:rPr lang="en-MY" sz="1050" dirty="0">
                <a:solidFill>
                  <a:schemeClr val="bg1"/>
                </a:solidFill>
              </a:rPr>
              <a:t> </a:t>
            </a:r>
            <a:r>
              <a:rPr lang="en-MY" sz="1050" dirty="0" err="1">
                <a:solidFill>
                  <a:schemeClr val="bg1"/>
                </a:solidFill>
              </a:rPr>
              <a:t>Phon</a:t>
            </a:r>
            <a:r>
              <a:rPr lang="en-MY" sz="1050" dirty="0">
                <a:solidFill>
                  <a:schemeClr val="bg1"/>
                </a:solidFill>
              </a:rPr>
              <a:t> - </a:t>
            </a:r>
            <a:r>
              <a:rPr lang="en-MY" sz="1050" dirty="0" err="1">
                <a:solidFill>
                  <a:schemeClr val="bg1"/>
                </a:solidFill>
              </a:rPr>
              <a:t>Amnuaisuk</a:t>
            </a:r>
            <a:r>
              <a:rPr lang="en-MY" sz="1050" dirty="0">
                <a:solidFill>
                  <a:schemeClr val="bg1"/>
                </a:solidFill>
              </a:rPr>
              <a:t> (A23CS0170)</a:t>
            </a:r>
          </a:p>
        </p:txBody>
      </p:sp>
    </p:spTree>
    <p:extLst>
      <p:ext uri="{BB962C8B-B14F-4D97-AF65-F5344CB8AC3E}">
        <p14:creationId xmlns:p14="http://schemas.microsoft.com/office/powerpoint/2010/main" val="2103540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AD0E23-96B9-5B33-C4F6-4DBCE5F54F96}"/>
              </a:ext>
            </a:extLst>
          </p:cNvPr>
          <p:cNvSpPr txBox="1"/>
          <p:nvPr/>
        </p:nvSpPr>
        <p:spPr>
          <a:xfrm>
            <a:off x="1906639" y="3429000"/>
            <a:ext cx="8337858" cy="1077218"/>
          </a:xfrm>
          <a:prstGeom prst="rect">
            <a:avLst/>
          </a:prstGeom>
          <a:noFill/>
        </p:spPr>
        <p:txBody>
          <a:bodyPr wrap="square" rtlCol="0">
            <a:spAutoFit/>
          </a:bodyPr>
          <a:lstStyle/>
          <a:p>
            <a:r>
              <a:rPr lang="en-MY" sz="1600" spc="300" dirty="0">
                <a:solidFill>
                  <a:schemeClr val="tx1">
                    <a:lumMod val="75000"/>
                    <a:lumOff val="25000"/>
                  </a:schemeClr>
                </a:solidFill>
              </a:rPr>
              <a:t>In this project, my role is a member who complete the task distributed together with my team members on time. Except from this, I’m also a moderator who monitor group progress to ensure </a:t>
            </a:r>
            <a:r>
              <a:rPr lang="en-US" sz="1600" spc="300" dirty="0">
                <a:solidFill>
                  <a:schemeClr val="tx1">
                    <a:lumMod val="75000"/>
                    <a:lumOff val="25000"/>
                  </a:schemeClr>
                </a:solidFill>
              </a:rPr>
              <a:t>the team stayed on track to achieve our goals.</a:t>
            </a:r>
            <a:endParaRPr lang="en-MY" sz="1600" spc="300" dirty="0">
              <a:solidFill>
                <a:schemeClr val="tx1">
                  <a:lumMod val="75000"/>
                  <a:lumOff val="25000"/>
                </a:schemeClr>
              </a:solidFill>
            </a:endParaRPr>
          </a:p>
        </p:txBody>
      </p:sp>
      <p:sp>
        <p:nvSpPr>
          <p:cNvPr id="5" name="TextBox 4">
            <a:extLst>
              <a:ext uri="{FF2B5EF4-FFF2-40B4-BE49-F238E27FC236}">
                <a16:creationId xmlns:a16="http://schemas.microsoft.com/office/drawing/2014/main" id="{A857FEA5-9459-537C-E1D9-3C7D22507583}"/>
              </a:ext>
            </a:extLst>
          </p:cNvPr>
          <p:cNvSpPr txBox="1"/>
          <p:nvPr/>
        </p:nvSpPr>
        <p:spPr>
          <a:xfrm>
            <a:off x="1906639" y="2613359"/>
            <a:ext cx="5943600" cy="584775"/>
          </a:xfrm>
          <a:prstGeom prst="rect">
            <a:avLst/>
          </a:prstGeom>
          <a:noFill/>
        </p:spPr>
        <p:txBody>
          <a:bodyPr wrap="square" rtlCol="0">
            <a:spAutoFit/>
          </a:bodyPr>
          <a:lstStyle/>
          <a:p>
            <a:r>
              <a:rPr lang="en-MY" sz="3200" spc="300" dirty="0">
                <a:solidFill>
                  <a:schemeClr val="tx1">
                    <a:lumMod val="75000"/>
                    <a:lumOff val="25000"/>
                  </a:schemeClr>
                </a:solidFill>
              </a:rPr>
              <a:t>Introduction</a:t>
            </a:r>
          </a:p>
        </p:txBody>
      </p:sp>
      <p:sp>
        <p:nvSpPr>
          <p:cNvPr id="6" name="TextBox 5">
            <a:extLst>
              <a:ext uri="{FF2B5EF4-FFF2-40B4-BE49-F238E27FC236}">
                <a16:creationId xmlns:a16="http://schemas.microsoft.com/office/drawing/2014/main" id="{8E102EFA-FD94-7D1F-B76C-45B63CEC7823}"/>
              </a:ext>
            </a:extLst>
          </p:cNvPr>
          <p:cNvSpPr txBox="1"/>
          <p:nvPr/>
        </p:nvSpPr>
        <p:spPr>
          <a:xfrm>
            <a:off x="1947503" y="1351410"/>
            <a:ext cx="8296994" cy="769441"/>
          </a:xfrm>
          <a:prstGeom prst="rect">
            <a:avLst/>
          </a:prstGeom>
          <a:noFill/>
        </p:spPr>
        <p:txBody>
          <a:bodyPr wrap="square" rtlCol="0">
            <a:spAutoFit/>
          </a:bodyPr>
          <a:lstStyle/>
          <a:p>
            <a:r>
              <a:rPr lang="en-US" sz="4400" b="1" kern="0" dirty="0">
                <a:solidFill>
                  <a:srgbClr val="6C1D35"/>
                </a:solidFill>
              </a:rPr>
              <a:t>UNIVERSITI TEKNOLOGI MALAYSIA</a:t>
            </a:r>
          </a:p>
        </p:txBody>
      </p:sp>
      <p:pic>
        <p:nvPicPr>
          <p:cNvPr id="7" name="Picture 6">
            <a:extLst>
              <a:ext uri="{FF2B5EF4-FFF2-40B4-BE49-F238E27FC236}">
                <a16:creationId xmlns:a16="http://schemas.microsoft.com/office/drawing/2014/main" id="{770A5E36-46DF-4261-B2A9-84180659C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7149" y="599516"/>
            <a:ext cx="2249407" cy="751894"/>
          </a:xfrm>
          <a:prstGeom prst="rect">
            <a:avLst/>
          </a:prstGeom>
        </p:spPr>
      </p:pic>
      <p:pic>
        <p:nvPicPr>
          <p:cNvPr id="2" name="Picture 1">
            <a:extLst>
              <a:ext uri="{FF2B5EF4-FFF2-40B4-BE49-F238E27FC236}">
                <a16:creationId xmlns:a16="http://schemas.microsoft.com/office/drawing/2014/main" id="{0DAB95FE-9FB6-3175-C6AD-6B6A256E7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8429" y="6352942"/>
            <a:ext cx="2136771" cy="160806"/>
          </a:xfrm>
          <a:prstGeom prst="rect">
            <a:avLst/>
          </a:prstGeom>
        </p:spPr>
      </p:pic>
    </p:spTree>
    <p:extLst>
      <p:ext uri="{BB962C8B-B14F-4D97-AF65-F5344CB8AC3E}">
        <p14:creationId xmlns:p14="http://schemas.microsoft.com/office/powerpoint/2010/main" val="1793746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0A1D4B-B8AB-E542-44C2-7821E42AFAE0}"/>
              </a:ext>
            </a:extLst>
          </p:cNvPr>
          <p:cNvSpPr txBox="1"/>
          <p:nvPr/>
        </p:nvSpPr>
        <p:spPr>
          <a:xfrm>
            <a:off x="4246895" y="3034652"/>
            <a:ext cx="5943600" cy="2308324"/>
          </a:xfrm>
          <a:prstGeom prst="rect">
            <a:avLst/>
          </a:prstGeom>
          <a:noFill/>
        </p:spPr>
        <p:txBody>
          <a:bodyPr wrap="square" rtlCol="0">
            <a:spAutoFit/>
          </a:bodyPr>
          <a:lstStyle/>
          <a:p>
            <a:r>
              <a:rPr lang="en-US" sz="1600" spc="300" dirty="0">
                <a:solidFill>
                  <a:schemeClr val="tx1">
                    <a:lumMod val="75000"/>
                    <a:lumOff val="25000"/>
                  </a:schemeClr>
                </a:solidFill>
              </a:rPr>
              <a:t>The project - </a:t>
            </a:r>
            <a:r>
              <a:rPr lang="en-US" sz="1600" spc="300" dirty="0" err="1">
                <a:solidFill>
                  <a:schemeClr val="tx1">
                    <a:lumMod val="75000"/>
                    <a:lumOff val="25000"/>
                  </a:schemeClr>
                </a:solidFill>
              </a:rPr>
              <a:t>MindWell</a:t>
            </a:r>
            <a:r>
              <a:rPr lang="en-US" sz="1600" spc="300" dirty="0">
                <a:solidFill>
                  <a:schemeClr val="tx1">
                    <a:lumMod val="75000"/>
                    <a:lumOff val="25000"/>
                  </a:schemeClr>
                </a:solidFill>
              </a:rPr>
              <a:t> Self-Help System, is a mobile-based mental health management platform designed to provide accessible, user-friendly tools for self-help and diagnosis. It integrates innovative features such as personalized toolkits, motivation and rewards, and mental health literacy resources to empower users to manage their mental health independently.</a:t>
            </a:r>
            <a:endParaRPr lang="en-MY" sz="1600" spc="300" dirty="0">
              <a:solidFill>
                <a:schemeClr val="tx1">
                  <a:lumMod val="75000"/>
                  <a:lumOff val="25000"/>
                </a:schemeClr>
              </a:solidFill>
            </a:endParaRPr>
          </a:p>
        </p:txBody>
      </p:sp>
      <p:sp>
        <p:nvSpPr>
          <p:cNvPr id="3" name="TextBox 2">
            <a:extLst>
              <a:ext uri="{FF2B5EF4-FFF2-40B4-BE49-F238E27FC236}">
                <a16:creationId xmlns:a16="http://schemas.microsoft.com/office/drawing/2014/main" id="{FA22FE14-4D31-9066-788E-550367FE7507}"/>
              </a:ext>
            </a:extLst>
          </p:cNvPr>
          <p:cNvSpPr txBox="1"/>
          <p:nvPr/>
        </p:nvSpPr>
        <p:spPr>
          <a:xfrm>
            <a:off x="4246895" y="2476020"/>
            <a:ext cx="5943600" cy="461665"/>
          </a:xfrm>
          <a:prstGeom prst="rect">
            <a:avLst/>
          </a:prstGeom>
          <a:noFill/>
        </p:spPr>
        <p:txBody>
          <a:bodyPr wrap="square" rtlCol="0">
            <a:spAutoFit/>
          </a:bodyPr>
          <a:lstStyle/>
          <a:p>
            <a:r>
              <a:rPr lang="en-MY" sz="2400" spc="300" dirty="0">
                <a:solidFill>
                  <a:schemeClr val="tx1">
                    <a:lumMod val="75000"/>
                    <a:lumOff val="25000"/>
                  </a:schemeClr>
                </a:solidFill>
              </a:rPr>
              <a:t>Project Overview</a:t>
            </a:r>
          </a:p>
        </p:txBody>
      </p:sp>
      <p:sp>
        <p:nvSpPr>
          <p:cNvPr id="4" name="TextBox 3">
            <a:extLst>
              <a:ext uri="{FF2B5EF4-FFF2-40B4-BE49-F238E27FC236}">
                <a16:creationId xmlns:a16="http://schemas.microsoft.com/office/drawing/2014/main" id="{8FA2359B-FA47-8309-5FD5-D51DACB42789}"/>
              </a:ext>
            </a:extLst>
          </p:cNvPr>
          <p:cNvSpPr txBox="1"/>
          <p:nvPr/>
        </p:nvSpPr>
        <p:spPr>
          <a:xfrm>
            <a:off x="4246895" y="1096316"/>
            <a:ext cx="5132079" cy="1323439"/>
          </a:xfrm>
          <a:prstGeom prst="rect">
            <a:avLst/>
          </a:prstGeom>
          <a:noFill/>
        </p:spPr>
        <p:txBody>
          <a:bodyPr wrap="square" rtlCol="0">
            <a:spAutoFit/>
          </a:bodyPr>
          <a:lstStyle/>
          <a:p>
            <a:r>
              <a:rPr lang="en-US" sz="4000" b="1" kern="0" dirty="0">
                <a:solidFill>
                  <a:srgbClr val="6C1D35"/>
                </a:solidFill>
              </a:rPr>
              <a:t>UNIVERSITI TEKNOLOGI MALAYSIA</a:t>
            </a:r>
          </a:p>
        </p:txBody>
      </p:sp>
      <p:pic>
        <p:nvPicPr>
          <p:cNvPr id="5" name="Picture 4">
            <a:extLst>
              <a:ext uri="{FF2B5EF4-FFF2-40B4-BE49-F238E27FC236}">
                <a16:creationId xmlns:a16="http://schemas.microsoft.com/office/drawing/2014/main" id="{7084184C-BDA4-1EED-A843-A55D7EBB6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14719AA7-B70D-336C-73F5-A522B614BE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58BC7F27-4F90-296B-D41B-62FA9D80EDA4}"/>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58941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C12763-9475-AE00-434A-31F721C5B9A4}"/>
              </a:ext>
            </a:extLst>
          </p:cNvPr>
          <p:cNvSpPr txBox="1"/>
          <p:nvPr/>
        </p:nvSpPr>
        <p:spPr>
          <a:xfrm>
            <a:off x="1006933" y="2434082"/>
            <a:ext cx="2406493" cy="2631490"/>
          </a:xfrm>
          <a:prstGeom prst="rect">
            <a:avLst/>
          </a:prstGeom>
          <a:noFill/>
        </p:spPr>
        <p:txBody>
          <a:bodyPr wrap="square" lIns="0" rIns="0" rtlCol="0">
            <a:spAutoFit/>
          </a:bodyPr>
          <a:lstStyle/>
          <a:p>
            <a:pPr marL="171450" indent="-171450">
              <a:buFont typeface="Arial" panose="020B0604020202020204" pitchFamily="34" charset="0"/>
              <a:buChar char="•"/>
            </a:pPr>
            <a:r>
              <a:rPr lang="en-MY" sz="1100" b="1" dirty="0"/>
              <a:t>Accessibility</a:t>
            </a:r>
            <a:r>
              <a:rPr lang="en-MY" sz="1100" dirty="0"/>
              <a:t> : </a:t>
            </a:r>
            <a:r>
              <a:rPr lang="en-US" sz="1100" dirty="0"/>
              <a:t>Offer cost-effective, accessible mental health tools for individuals</a:t>
            </a:r>
          </a:p>
          <a:p>
            <a:pPr marL="171450" indent="-171450">
              <a:buFont typeface="Arial" panose="020B0604020202020204" pitchFamily="34" charset="0"/>
              <a:buChar char="•"/>
            </a:pPr>
            <a:r>
              <a:rPr lang="en-MY" sz="1100" b="1" dirty="0"/>
              <a:t>Education</a:t>
            </a:r>
            <a:r>
              <a:rPr lang="en-MY" sz="1100" dirty="0"/>
              <a:t> : </a:t>
            </a:r>
            <a:r>
              <a:rPr lang="en-US" sz="1100" dirty="0"/>
              <a:t>Enhance mental health literacy by providing educational resources (knowledge units) curated by professionals.</a:t>
            </a:r>
          </a:p>
          <a:p>
            <a:pPr marL="171450" indent="-171450">
              <a:buFont typeface="Arial" panose="020B0604020202020204" pitchFamily="34" charset="0"/>
              <a:buChar char="•"/>
            </a:pPr>
            <a:r>
              <a:rPr lang="en-MY" sz="1100" b="1" dirty="0"/>
              <a:t>Engagement</a:t>
            </a:r>
            <a:r>
              <a:rPr lang="en-MY" sz="1100" dirty="0"/>
              <a:t> : </a:t>
            </a:r>
            <a:r>
              <a:rPr lang="en-US" sz="1100" dirty="0"/>
              <a:t>Incorporate gamification features like points, badges, and avatars to motivate consistent user engagement.</a:t>
            </a:r>
          </a:p>
          <a:p>
            <a:pPr marL="171450" indent="-171450">
              <a:buFont typeface="Arial" panose="020B0604020202020204" pitchFamily="34" charset="0"/>
              <a:buChar char="•"/>
            </a:pPr>
            <a:r>
              <a:rPr lang="en-MY" sz="1100" b="1" dirty="0"/>
              <a:t>Personalization</a:t>
            </a:r>
            <a:r>
              <a:rPr lang="en-MY" sz="1100" dirty="0"/>
              <a:t> : </a:t>
            </a:r>
            <a:r>
              <a:rPr lang="en-US" sz="1100" dirty="0"/>
              <a:t>Allow users to customize their experience with a tailored toolbox of mental health techniques</a:t>
            </a:r>
            <a:endParaRPr lang="en-US" sz="1100" dirty="0">
              <a:ea typeface="Roboto Condensed Light" panose="02000000000000000000" pitchFamily="2" charset="0"/>
              <a:cs typeface="Roboto Condensed Light" panose="02000000000000000000" pitchFamily="2" charset="0"/>
            </a:endParaRPr>
          </a:p>
        </p:txBody>
      </p:sp>
      <p:sp>
        <p:nvSpPr>
          <p:cNvPr id="5" name="TextBox 4">
            <a:extLst>
              <a:ext uri="{FF2B5EF4-FFF2-40B4-BE49-F238E27FC236}">
                <a16:creationId xmlns:a16="http://schemas.microsoft.com/office/drawing/2014/main" id="{49AB57DA-B5B0-EFA5-BDA3-C8370762771A}"/>
              </a:ext>
            </a:extLst>
          </p:cNvPr>
          <p:cNvSpPr txBox="1"/>
          <p:nvPr/>
        </p:nvSpPr>
        <p:spPr>
          <a:xfrm>
            <a:off x="1769126" y="1674661"/>
            <a:ext cx="949171" cy="307777"/>
          </a:xfrm>
          <a:prstGeom prst="rect">
            <a:avLst/>
          </a:prstGeom>
          <a:noFill/>
        </p:spPr>
        <p:txBody>
          <a:bodyPr wrap="none" rtlCol="0">
            <a:spAutoFit/>
          </a:bodyPr>
          <a:lstStyle/>
          <a:p>
            <a:pPr algn="ctr"/>
            <a:r>
              <a:rPr lang="en-US" sz="1400" dirty="0"/>
              <a:t>Objectives</a:t>
            </a:r>
          </a:p>
        </p:txBody>
      </p:sp>
      <p:sp>
        <p:nvSpPr>
          <p:cNvPr id="34" name="Title 3">
            <a:extLst>
              <a:ext uri="{FF2B5EF4-FFF2-40B4-BE49-F238E27FC236}">
                <a16:creationId xmlns:a16="http://schemas.microsoft.com/office/drawing/2014/main" id="{6A6FAA6A-D5A2-D497-081C-DCE5B78111EB}"/>
              </a:ext>
            </a:extLst>
          </p:cNvPr>
          <p:cNvSpPr>
            <a:spLocks noGrp="1"/>
          </p:cNvSpPr>
          <p:nvPr>
            <p:ph type="title"/>
          </p:nvPr>
        </p:nvSpPr>
        <p:spPr>
          <a:xfrm>
            <a:off x="838200" y="365125"/>
            <a:ext cx="10515600" cy="1325563"/>
          </a:xfrm>
        </p:spPr>
        <p:txBody>
          <a:bodyPr/>
          <a:lstStyle/>
          <a:p>
            <a:r>
              <a:rPr lang="en-US" dirty="0"/>
              <a:t>Background of the project</a:t>
            </a:r>
          </a:p>
        </p:txBody>
      </p:sp>
      <p:sp>
        <p:nvSpPr>
          <p:cNvPr id="35" name="TextBox 34">
            <a:extLst>
              <a:ext uri="{FF2B5EF4-FFF2-40B4-BE49-F238E27FC236}">
                <a16:creationId xmlns:a16="http://schemas.microsoft.com/office/drawing/2014/main" id="{3047D21A-D362-8E31-F6C9-834ABCF8E4BF}"/>
              </a:ext>
            </a:extLst>
          </p:cNvPr>
          <p:cNvSpPr txBox="1"/>
          <p:nvPr/>
        </p:nvSpPr>
        <p:spPr>
          <a:xfrm>
            <a:off x="3596864" y="2434082"/>
            <a:ext cx="2406493" cy="2123658"/>
          </a:xfrm>
          <a:prstGeom prst="rect">
            <a:avLst/>
          </a:prstGeom>
          <a:noFill/>
        </p:spPr>
        <p:txBody>
          <a:bodyPr wrap="square" lIns="0" rIns="0" rtlCol="0">
            <a:spAutoFit/>
          </a:bodyPr>
          <a:lstStyle/>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End Users </a:t>
            </a:r>
            <a:r>
              <a:rPr lang="en-US" sz="1100" dirty="0">
                <a:ea typeface="Roboto Condensed Light" panose="02000000000000000000" pitchFamily="2" charset="0"/>
                <a:cs typeface="Roboto Condensed Light" panose="02000000000000000000" pitchFamily="2" charset="0"/>
              </a:rPr>
              <a:t>: Individuals seeking mental health support for self-diagnosis, progress tracking, and skill-building.</a:t>
            </a:r>
          </a:p>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Mental Health Professionals </a:t>
            </a:r>
            <a:r>
              <a:rPr lang="en-US" sz="1100" dirty="0">
                <a:ea typeface="Roboto Condensed Light" panose="02000000000000000000" pitchFamily="2" charset="0"/>
                <a:cs typeface="Roboto Condensed Light" panose="02000000000000000000" pitchFamily="2" charset="0"/>
              </a:rPr>
              <a:t>: Psychologists and consultants providing expertise and ensuring content accuracy and cultural relevance.</a:t>
            </a:r>
          </a:p>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Stakeholders </a:t>
            </a:r>
            <a:r>
              <a:rPr lang="en-US" sz="1100" dirty="0">
                <a:ea typeface="Roboto Condensed Light" panose="02000000000000000000" pitchFamily="2" charset="0"/>
                <a:cs typeface="Roboto Condensed Light" panose="02000000000000000000" pitchFamily="2" charset="0"/>
              </a:rPr>
              <a:t>: Developers, designers, and organizations involved in developing or funding mental health solutions.</a:t>
            </a:r>
          </a:p>
        </p:txBody>
      </p:sp>
      <p:sp>
        <p:nvSpPr>
          <p:cNvPr id="36" name="TextBox 35">
            <a:extLst>
              <a:ext uri="{FF2B5EF4-FFF2-40B4-BE49-F238E27FC236}">
                <a16:creationId xmlns:a16="http://schemas.microsoft.com/office/drawing/2014/main" id="{8C1C5A0C-F547-5582-B01D-8C742856BE24}"/>
              </a:ext>
            </a:extLst>
          </p:cNvPr>
          <p:cNvSpPr txBox="1"/>
          <p:nvPr/>
        </p:nvSpPr>
        <p:spPr>
          <a:xfrm>
            <a:off x="4113390" y="1663801"/>
            <a:ext cx="1363194" cy="307777"/>
          </a:xfrm>
          <a:prstGeom prst="rect">
            <a:avLst/>
          </a:prstGeom>
          <a:noFill/>
        </p:spPr>
        <p:txBody>
          <a:bodyPr wrap="none" rtlCol="0">
            <a:spAutoFit/>
          </a:bodyPr>
          <a:lstStyle/>
          <a:p>
            <a:pPr algn="ctr"/>
            <a:r>
              <a:rPr lang="en-US" sz="1400" dirty="0"/>
              <a:t>Target Audience</a:t>
            </a:r>
          </a:p>
        </p:txBody>
      </p:sp>
      <p:sp>
        <p:nvSpPr>
          <p:cNvPr id="37" name="TextBox 36">
            <a:extLst>
              <a:ext uri="{FF2B5EF4-FFF2-40B4-BE49-F238E27FC236}">
                <a16:creationId xmlns:a16="http://schemas.microsoft.com/office/drawing/2014/main" id="{F3D1CC01-E371-76D8-B094-B2831BE38DE4}"/>
              </a:ext>
            </a:extLst>
          </p:cNvPr>
          <p:cNvSpPr txBox="1"/>
          <p:nvPr/>
        </p:nvSpPr>
        <p:spPr>
          <a:xfrm>
            <a:off x="6194702" y="2433788"/>
            <a:ext cx="2406493" cy="3477875"/>
          </a:xfrm>
          <a:prstGeom prst="rect">
            <a:avLst/>
          </a:prstGeom>
          <a:noFill/>
        </p:spPr>
        <p:txBody>
          <a:bodyPr wrap="square" lIns="0" rIns="0" rtlCol="0">
            <a:spAutoFit/>
          </a:bodyPr>
          <a:lstStyle/>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User Management </a:t>
            </a:r>
            <a:r>
              <a:rPr lang="en-US" sz="1100" dirty="0">
                <a:ea typeface="Roboto Condensed Light" panose="02000000000000000000" pitchFamily="2" charset="0"/>
                <a:cs typeface="Roboto Condensed Light" panose="02000000000000000000" pitchFamily="2" charset="0"/>
              </a:rPr>
              <a:t>: User registration, login, profile customization, and password recovery.</a:t>
            </a:r>
          </a:p>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Mental Health Literacy </a:t>
            </a:r>
            <a:r>
              <a:rPr lang="en-US" sz="1100" dirty="0">
                <a:ea typeface="Roboto Condensed Light" panose="02000000000000000000" pitchFamily="2" charset="0"/>
                <a:cs typeface="Roboto Condensed Light" panose="02000000000000000000" pitchFamily="2" charset="0"/>
              </a:rPr>
              <a:t>: Access to knowledge units, bookmarking, and rating of educational resources.</a:t>
            </a:r>
          </a:p>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Skill-Building Toolbox </a:t>
            </a:r>
            <a:r>
              <a:rPr lang="en-US" sz="1100" dirty="0">
                <a:ea typeface="Roboto Condensed Light" panose="02000000000000000000" pitchFamily="2" charset="0"/>
                <a:cs typeface="Roboto Condensed Light" panose="02000000000000000000" pitchFamily="2" charset="0"/>
              </a:rPr>
              <a:t>: Tools that users can add, evolve, or remove based on their preferences.</a:t>
            </a:r>
          </a:p>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Motivation and Rewards </a:t>
            </a:r>
            <a:r>
              <a:rPr lang="en-US" sz="1100" dirty="0">
                <a:ea typeface="Roboto Condensed Light" panose="02000000000000000000" pitchFamily="2" charset="0"/>
                <a:cs typeface="Roboto Condensed Light" panose="02000000000000000000" pitchFamily="2" charset="0"/>
              </a:rPr>
              <a:t>: Points, badges, and customizable avatars to engage users and encourage participation.</a:t>
            </a:r>
          </a:p>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Admin Management </a:t>
            </a:r>
            <a:r>
              <a:rPr lang="en-US" sz="1100" dirty="0">
                <a:ea typeface="Roboto Condensed Light" panose="02000000000000000000" pitchFamily="2" charset="0"/>
                <a:cs typeface="Roboto Condensed Light" panose="02000000000000000000" pitchFamily="2" charset="0"/>
              </a:rPr>
              <a:t>: Content management by administrators, including resolving flagged issues and monitoring diagnostic trends.</a:t>
            </a:r>
          </a:p>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Content Creation </a:t>
            </a:r>
            <a:r>
              <a:rPr lang="en-US" sz="1100" dirty="0">
                <a:ea typeface="Roboto Condensed Light" panose="02000000000000000000" pitchFamily="2" charset="0"/>
                <a:cs typeface="Roboto Condensed Light" panose="02000000000000000000" pitchFamily="2" charset="0"/>
              </a:rPr>
              <a:t>: Tools for professionals to create new knowledge units tailored to user needs.</a:t>
            </a:r>
          </a:p>
        </p:txBody>
      </p:sp>
      <p:sp>
        <p:nvSpPr>
          <p:cNvPr id="38" name="TextBox 37">
            <a:extLst>
              <a:ext uri="{FF2B5EF4-FFF2-40B4-BE49-F238E27FC236}">
                <a16:creationId xmlns:a16="http://schemas.microsoft.com/office/drawing/2014/main" id="{245932C9-8632-2A4A-51B0-F3258DB70723}"/>
              </a:ext>
            </a:extLst>
          </p:cNvPr>
          <p:cNvSpPr txBox="1"/>
          <p:nvPr/>
        </p:nvSpPr>
        <p:spPr>
          <a:xfrm>
            <a:off x="6741729" y="1660974"/>
            <a:ext cx="1370952" cy="307777"/>
          </a:xfrm>
          <a:prstGeom prst="rect">
            <a:avLst/>
          </a:prstGeom>
          <a:noFill/>
        </p:spPr>
        <p:txBody>
          <a:bodyPr wrap="none" rtlCol="0">
            <a:spAutoFit/>
          </a:bodyPr>
          <a:lstStyle/>
          <a:p>
            <a:pPr algn="ctr"/>
            <a:r>
              <a:rPr lang="en-US" sz="1400" dirty="0"/>
              <a:t>Project Features</a:t>
            </a:r>
          </a:p>
        </p:txBody>
      </p:sp>
      <p:sp>
        <p:nvSpPr>
          <p:cNvPr id="39" name="TextBox 38">
            <a:extLst>
              <a:ext uri="{FF2B5EF4-FFF2-40B4-BE49-F238E27FC236}">
                <a16:creationId xmlns:a16="http://schemas.microsoft.com/office/drawing/2014/main" id="{8F1AD2B4-8D00-2766-D2AC-CCC4CF9206B1}"/>
              </a:ext>
            </a:extLst>
          </p:cNvPr>
          <p:cNvSpPr txBox="1"/>
          <p:nvPr/>
        </p:nvSpPr>
        <p:spPr>
          <a:xfrm>
            <a:off x="9026144" y="2433788"/>
            <a:ext cx="2406493" cy="1615827"/>
          </a:xfrm>
          <a:prstGeom prst="rect">
            <a:avLst/>
          </a:prstGeom>
          <a:noFill/>
        </p:spPr>
        <p:txBody>
          <a:bodyPr wrap="square" lIns="0" rIns="0" rtlCol="0">
            <a:spAutoFit/>
          </a:bodyPr>
          <a:lstStyle/>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Psychologists and Mental Health Advocates </a:t>
            </a:r>
            <a:r>
              <a:rPr lang="en-US" sz="1100" dirty="0">
                <a:ea typeface="Roboto Condensed Light" panose="02000000000000000000" pitchFamily="2" charset="0"/>
                <a:cs typeface="Roboto Condensed Light" panose="02000000000000000000" pitchFamily="2" charset="0"/>
              </a:rPr>
              <a:t>: To ensure the system meets industry standards and user needs.</a:t>
            </a:r>
          </a:p>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Developers and Designers </a:t>
            </a:r>
            <a:r>
              <a:rPr lang="en-US" sz="1100" dirty="0">
                <a:ea typeface="Roboto Condensed Light" panose="02000000000000000000" pitchFamily="2" charset="0"/>
                <a:cs typeface="Roboto Condensed Light" panose="02000000000000000000" pitchFamily="2" charset="0"/>
              </a:rPr>
              <a:t>: Responsible for building a scalable and secure system.</a:t>
            </a:r>
          </a:p>
          <a:p>
            <a:pPr marL="171450" indent="-171450">
              <a:buFont typeface="Arial" panose="020B0604020202020204" pitchFamily="34" charset="0"/>
              <a:buChar char="•"/>
            </a:pPr>
            <a:r>
              <a:rPr lang="en-US" sz="1100" b="1" dirty="0">
                <a:ea typeface="Roboto Condensed Light" panose="02000000000000000000" pitchFamily="2" charset="0"/>
                <a:cs typeface="Roboto Condensed Light" panose="02000000000000000000" pitchFamily="2" charset="0"/>
              </a:rPr>
              <a:t>End Users </a:t>
            </a:r>
            <a:r>
              <a:rPr lang="en-US" sz="1100" dirty="0">
                <a:ea typeface="Roboto Condensed Light" panose="02000000000000000000" pitchFamily="2" charset="0"/>
                <a:cs typeface="Roboto Condensed Light" panose="02000000000000000000" pitchFamily="2" charset="0"/>
              </a:rPr>
              <a:t>: Provide feedback to improve the platform and its usability.</a:t>
            </a:r>
          </a:p>
        </p:txBody>
      </p:sp>
      <p:sp>
        <p:nvSpPr>
          <p:cNvPr id="40" name="TextBox 39">
            <a:extLst>
              <a:ext uri="{FF2B5EF4-FFF2-40B4-BE49-F238E27FC236}">
                <a16:creationId xmlns:a16="http://schemas.microsoft.com/office/drawing/2014/main" id="{E9828113-B122-BA4A-510D-48A4211D2B1F}"/>
              </a:ext>
            </a:extLst>
          </p:cNvPr>
          <p:cNvSpPr txBox="1"/>
          <p:nvPr/>
        </p:nvSpPr>
        <p:spPr>
          <a:xfrm>
            <a:off x="9341458" y="1660973"/>
            <a:ext cx="1422761" cy="307777"/>
          </a:xfrm>
          <a:prstGeom prst="rect">
            <a:avLst/>
          </a:prstGeom>
          <a:noFill/>
        </p:spPr>
        <p:txBody>
          <a:bodyPr wrap="none" rtlCol="0">
            <a:spAutoFit/>
          </a:bodyPr>
          <a:lstStyle/>
          <a:p>
            <a:pPr algn="ctr"/>
            <a:r>
              <a:rPr lang="en-US" sz="1400" dirty="0"/>
              <a:t>Key Stakeholders</a:t>
            </a:r>
          </a:p>
        </p:txBody>
      </p:sp>
      <p:pic>
        <p:nvPicPr>
          <p:cNvPr id="2" name="Picture 1">
            <a:extLst>
              <a:ext uri="{FF2B5EF4-FFF2-40B4-BE49-F238E27FC236}">
                <a16:creationId xmlns:a16="http://schemas.microsoft.com/office/drawing/2014/main" id="{349D8A22-FDE9-03B0-EABB-6E05E539B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cxnSp>
        <p:nvCxnSpPr>
          <p:cNvPr id="33" name="Straight Connector 32">
            <a:extLst>
              <a:ext uri="{FF2B5EF4-FFF2-40B4-BE49-F238E27FC236}">
                <a16:creationId xmlns:a16="http://schemas.microsoft.com/office/drawing/2014/main" id="{B1B9FD42-30B8-46CE-812C-66719FEC4279}"/>
              </a:ext>
            </a:extLst>
          </p:cNvPr>
          <p:cNvCxnSpPr/>
          <p:nvPr/>
        </p:nvCxnSpPr>
        <p:spPr>
          <a:xfrm>
            <a:off x="3518959" y="1674661"/>
            <a:ext cx="0" cy="4258053"/>
          </a:xfrm>
          <a:prstGeom prst="line">
            <a:avLst/>
          </a:prstGeom>
          <a:ln>
            <a:solidFill>
              <a:schemeClr val="bg1">
                <a:lumMod val="75000"/>
              </a:schemeClr>
            </a:solidFill>
            <a:prstDash val="sysDash"/>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AA349E87-1BB7-4192-B549-4C5F6F44EC28}"/>
              </a:ext>
            </a:extLst>
          </p:cNvPr>
          <p:cNvCxnSpPr/>
          <p:nvPr/>
        </p:nvCxnSpPr>
        <p:spPr>
          <a:xfrm>
            <a:off x="6118426" y="1674661"/>
            <a:ext cx="0" cy="4258053"/>
          </a:xfrm>
          <a:prstGeom prst="line">
            <a:avLst/>
          </a:prstGeom>
          <a:ln>
            <a:solidFill>
              <a:schemeClr val="bg1">
                <a:lumMod val="75000"/>
              </a:schemeClr>
            </a:solidFill>
            <a:prstDash val="sysDash"/>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DABFE220-5E81-4B5E-A511-596A1D64FCE5}"/>
              </a:ext>
            </a:extLst>
          </p:cNvPr>
          <p:cNvCxnSpPr/>
          <p:nvPr/>
        </p:nvCxnSpPr>
        <p:spPr>
          <a:xfrm>
            <a:off x="8751877" y="1635727"/>
            <a:ext cx="0" cy="4258053"/>
          </a:xfrm>
          <a:prstGeom prst="line">
            <a:avLst/>
          </a:prstGeom>
          <a:ln>
            <a:solidFill>
              <a:schemeClr val="bg1">
                <a:lumMod val="75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51843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8C41E3F1-B7A9-83E6-1569-3C2E2C5D14B6}"/>
              </a:ext>
            </a:extLst>
          </p:cNvPr>
          <p:cNvGrpSpPr/>
          <p:nvPr/>
        </p:nvGrpSpPr>
        <p:grpSpPr>
          <a:xfrm>
            <a:off x="4933953" y="310862"/>
            <a:ext cx="5446027" cy="950862"/>
            <a:chOff x="5292036" y="974450"/>
            <a:chExt cx="5446027" cy="950862"/>
          </a:xfrm>
        </p:grpSpPr>
        <p:sp>
          <p:nvSpPr>
            <p:cNvPr id="10" name="TextBox 9">
              <a:extLst>
                <a:ext uri="{FF2B5EF4-FFF2-40B4-BE49-F238E27FC236}">
                  <a16:creationId xmlns:a16="http://schemas.microsoft.com/office/drawing/2014/main" id="{E03A9152-69B0-736A-2CFE-04A297940E6A}"/>
                </a:ext>
              </a:extLst>
            </p:cNvPr>
            <p:cNvSpPr txBox="1"/>
            <p:nvPr/>
          </p:nvSpPr>
          <p:spPr>
            <a:xfrm>
              <a:off x="6230371" y="1052382"/>
              <a:ext cx="4507692" cy="369332"/>
            </a:xfrm>
            <a:prstGeom prst="rect">
              <a:avLst/>
            </a:prstGeom>
            <a:noFill/>
          </p:spPr>
          <p:txBody>
            <a:bodyPr wrap="square" lIns="108000" rIns="108000" rtlCol="0">
              <a:spAutoFit/>
            </a:bodyPr>
            <a:lstStyle/>
            <a:p>
              <a:r>
                <a:rPr lang="en-MY" b="1" dirty="0"/>
                <a:t>User Management Module</a:t>
              </a:r>
              <a:endParaRPr lang="ko-KR" altLang="en-US" sz="2000" b="1" dirty="0">
                <a:cs typeface="Arial" pitchFamily="34" charset="0"/>
              </a:endParaRPr>
            </a:p>
          </p:txBody>
        </p:sp>
        <p:sp>
          <p:nvSpPr>
            <p:cNvPr id="8" name="TextBox 7">
              <a:extLst>
                <a:ext uri="{FF2B5EF4-FFF2-40B4-BE49-F238E27FC236}">
                  <a16:creationId xmlns:a16="http://schemas.microsoft.com/office/drawing/2014/main" id="{C25BDAC7-AF3F-67DF-4F18-78B7C660723C}"/>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01</a:t>
              </a:r>
              <a:endParaRPr lang="ko-KR" altLang="en-US" sz="3600" b="1" dirty="0">
                <a:cs typeface="Arial" pitchFamily="34" charset="0"/>
              </a:endParaRPr>
            </a:p>
          </p:txBody>
        </p:sp>
        <p:sp>
          <p:nvSpPr>
            <p:cNvPr id="26" name="TextBox 25">
              <a:extLst>
                <a:ext uri="{FF2B5EF4-FFF2-40B4-BE49-F238E27FC236}">
                  <a16:creationId xmlns:a16="http://schemas.microsoft.com/office/drawing/2014/main" id="{C31809C0-6D05-ED76-DC4F-D4987AA5246E}"/>
                </a:ext>
              </a:extLst>
            </p:cNvPr>
            <p:cNvSpPr txBox="1"/>
            <p:nvPr/>
          </p:nvSpPr>
          <p:spPr>
            <a:xfrm>
              <a:off x="6376998" y="1463647"/>
              <a:ext cx="4034202" cy="461665"/>
            </a:xfrm>
            <a:prstGeom prst="rect">
              <a:avLst/>
            </a:prstGeom>
            <a:noFill/>
          </p:spPr>
          <p:txBody>
            <a:bodyPr wrap="square" lIns="0" rIns="0" rtlCol="0">
              <a:spAutoFit/>
            </a:bodyPr>
            <a:lstStyle/>
            <a:p>
              <a:r>
                <a:rPr lang="en-US" sz="1200" dirty="0">
                  <a:ea typeface="Roboto Condensed Light" panose="02000000000000000000" pitchFamily="2" charset="0"/>
                  <a:cs typeface="Roboto Condensed Light" panose="02000000000000000000" pitchFamily="2" charset="0"/>
                </a:rPr>
                <a:t>Basic user management, including registration, login, and profile management.</a:t>
              </a:r>
            </a:p>
          </p:txBody>
        </p:sp>
      </p:grpSp>
      <p:grpSp>
        <p:nvGrpSpPr>
          <p:cNvPr id="28" name="Group 27">
            <a:extLst>
              <a:ext uri="{FF2B5EF4-FFF2-40B4-BE49-F238E27FC236}">
                <a16:creationId xmlns:a16="http://schemas.microsoft.com/office/drawing/2014/main" id="{DC77C103-7409-67E1-0766-F8506271AB2A}"/>
              </a:ext>
            </a:extLst>
          </p:cNvPr>
          <p:cNvGrpSpPr/>
          <p:nvPr/>
        </p:nvGrpSpPr>
        <p:grpSpPr>
          <a:xfrm>
            <a:off x="4933953" y="1418858"/>
            <a:ext cx="5446027" cy="950862"/>
            <a:chOff x="5292036" y="974450"/>
            <a:chExt cx="5446027" cy="950862"/>
          </a:xfrm>
        </p:grpSpPr>
        <p:sp>
          <p:nvSpPr>
            <p:cNvPr id="29" name="TextBox 28">
              <a:extLst>
                <a:ext uri="{FF2B5EF4-FFF2-40B4-BE49-F238E27FC236}">
                  <a16:creationId xmlns:a16="http://schemas.microsoft.com/office/drawing/2014/main" id="{B6E4D0E0-0363-7D00-9476-926580CC8B81}"/>
                </a:ext>
              </a:extLst>
            </p:cNvPr>
            <p:cNvSpPr txBox="1"/>
            <p:nvPr/>
          </p:nvSpPr>
          <p:spPr>
            <a:xfrm>
              <a:off x="6230371" y="1052382"/>
              <a:ext cx="4507692" cy="369332"/>
            </a:xfrm>
            <a:prstGeom prst="rect">
              <a:avLst/>
            </a:prstGeom>
            <a:noFill/>
          </p:spPr>
          <p:txBody>
            <a:bodyPr wrap="square" lIns="108000" rIns="108000" rtlCol="0">
              <a:spAutoFit/>
            </a:bodyPr>
            <a:lstStyle/>
            <a:p>
              <a:r>
                <a:rPr lang="en-MY" b="1" dirty="0"/>
                <a:t>Mental Health Literacy Module</a:t>
              </a:r>
              <a:endParaRPr lang="ko-KR" altLang="en-US" sz="2000" b="1" dirty="0">
                <a:cs typeface="Arial" pitchFamily="34" charset="0"/>
              </a:endParaRPr>
            </a:p>
          </p:txBody>
        </p:sp>
        <p:sp>
          <p:nvSpPr>
            <p:cNvPr id="30" name="TextBox 29">
              <a:extLst>
                <a:ext uri="{FF2B5EF4-FFF2-40B4-BE49-F238E27FC236}">
                  <a16:creationId xmlns:a16="http://schemas.microsoft.com/office/drawing/2014/main" id="{1533923C-0FE2-D0D7-D3D2-546A2398E56F}"/>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02</a:t>
              </a:r>
              <a:endParaRPr lang="ko-KR" altLang="en-US" sz="3600" b="1" dirty="0">
                <a:cs typeface="Arial" pitchFamily="34" charset="0"/>
              </a:endParaRPr>
            </a:p>
          </p:txBody>
        </p:sp>
        <p:sp>
          <p:nvSpPr>
            <p:cNvPr id="31" name="TextBox 30">
              <a:extLst>
                <a:ext uri="{FF2B5EF4-FFF2-40B4-BE49-F238E27FC236}">
                  <a16:creationId xmlns:a16="http://schemas.microsoft.com/office/drawing/2014/main" id="{1C2C1570-D2D8-C82B-F7F9-30539E3C183D}"/>
                </a:ext>
              </a:extLst>
            </p:cNvPr>
            <p:cNvSpPr txBox="1"/>
            <p:nvPr/>
          </p:nvSpPr>
          <p:spPr>
            <a:xfrm>
              <a:off x="6376998" y="1463647"/>
              <a:ext cx="4034202" cy="461665"/>
            </a:xfrm>
            <a:prstGeom prst="rect">
              <a:avLst/>
            </a:prstGeom>
            <a:noFill/>
          </p:spPr>
          <p:txBody>
            <a:bodyPr wrap="square" lIns="0" rIns="0" rtlCol="0">
              <a:spAutoFit/>
            </a:bodyPr>
            <a:lstStyle/>
            <a:p>
              <a:r>
                <a:rPr lang="en-US" sz="1200" dirty="0">
                  <a:ea typeface="Roboto Condensed Light" panose="02000000000000000000" pitchFamily="2" charset="0"/>
                  <a:cs typeface="Roboto Condensed Light" panose="02000000000000000000" pitchFamily="2" charset="0"/>
                </a:rPr>
                <a:t>Introduction of knowledge units for browsing, bookmarking, and rating.</a:t>
              </a:r>
            </a:p>
          </p:txBody>
        </p:sp>
      </p:grpSp>
      <p:grpSp>
        <p:nvGrpSpPr>
          <p:cNvPr id="32" name="Group 31">
            <a:extLst>
              <a:ext uri="{FF2B5EF4-FFF2-40B4-BE49-F238E27FC236}">
                <a16:creationId xmlns:a16="http://schemas.microsoft.com/office/drawing/2014/main" id="{BD13128B-02AE-1322-E7B7-712C1EDD1CAD}"/>
              </a:ext>
            </a:extLst>
          </p:cNvPr>
          <p:cNvGrpSpPr/>
          <p:nvPr/>
        </p:nvGrpSpPr>
        <p:grpSpPr>
          <a:xfrm>
            <a:off x="4933953" y="2447652"/>
            <a:ext cx="5446027" cy="950862"/>
            <a:chOff x="5292036" y="974450"/>
            <a:chExt cx="5446027" cy="950862"/>
          </a:xfrm>
        </p:grpSpPr>
        <p:sp>
          <p:nvSpPr>
            <p:cNvPr id="33" name="TextBox 32">
              <a:extLst>
                <a:ext uri="{FF2B5EF4-FFF2-40B4-BE49-F238E27FC236}">
                  <a16:creationId xmlns:a16="http://schemas.microsoft.com/office/drawing/2014/main" id="{9E4484E9-F589-F0D0-E711-BD1AD2477BB3}"/>
                </a:ext>
              </a:extLst>
            </p:cNvPr>
            <p:cNvSpPr txBox="1"/>
            <p:nvPr/>
          </p:nvSpPr>
          <p:spPr>
            <a:xfrm>
              <a:off x="6230371" y="1052382"/>
              <a:ext cx="4507692" cy="369332"/>
            </a:xfrm>
            <a:prstGeom prst="rect">
              <a:avLst/>
            </a:prstGeom>
            <a:noFill/>
          </p:spPr>
          <p:txBody>
            <a:bodyPr wrap="square" lIns="108000" rIns="108000" rtlCol="0">
              <a:spAutoFit/>
            </a:bodyPr>
            <a:lstStyle/>
            <a:p>
              <a:r>
                <a:rPr lang="en-MY" b="1" dirty="0"/>
                <a:t>Skill-Building Toolbox Module</a:t>
              </a:r>
              <a:endParaRPr lang="ko-KR" altLang="en-US" sz="2000" b="1" dirty="0">
                <a:cs typeface="Arial" pitchFamily="34" charset="0"/>
              </a:endParaRPr>
            </a:p>
          </p:txBody>
        </p:sp>
        <p:sp>
          <p:nvSpPr>
            <p:cNvPr id="34" name="TextBox 33">
              <a:extLst>
                <a:ext uri="{FF2B5EF4-FFF2-40B4-BE49-F238E27FC236}">
                  <a16:creationId xmlns:a16="http://schemas.microsoft.com/office/drawing/2014/main" id="{F08DE2FE-EE81-76C5-D3F5-E4AFA05286F0}"/>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03</a:t>
              </a:r>
              <a:endParaRPr lang="ko-KR" altLang="en-US" sz="3600" b="1" dirty="0">
                <a:cs typeface="Arial" pitchFamily="34" charset="0"/>
              </a:endParaRPr>
            </a:p>
          </p:txBody>
        </p:sp>
        <p:sp>
          <p:nvSpPr>
            <p:cNvPr id="35" name="TextBox 34">
              <a:extLst>
                <a:ext uri="{FF2B5EF4-FFF2-40B4-BE49-F238E27FC236}">
                  <a16:creationId xmlns:a16="http://schemas.microsoft.com/office/drawing/2014/main" id="{FAC56086-9D46-59D8-1D8C-3259259FBACD}"/>
                </a:ext>
              </a:extLst>
            </p:cNvPr>
            <p:cNvSpPr txBox="1"/>
            <p:nvPr/>
          </p:nvSpPr>
          <p:spPr>
            <a:xfrm>
              <a:off x="6376998" y="1463647"/>
              <a:ext cx="4034202" cy="461665"/>
            </a:xfrm>
            <a:prstGeom prst="rect">
              <a:avLst/>
            </a:prstGeom>
            <a:noFill/>
          </p:spPr>
          <p:txBody>
            <a:bodyPr wrap="square" lIns="0" rIns="0" rtlCol="0">
              <a:spAutoFit/>
            </a:bodyPr>
            <a:lstStyle/>
            <a:p>
              <a:r>
                <a:rPr lang="en-US" sz="1200" dirty="0">
                  <a:ea typeface="Roboto Condensed Light" panose="02000000000000000000" pitchFamily="2" charset="0"/>
                  <a:cs typeface="Roboto Condensed Light" panose="02000000000000000000" pitchFamily="2" charset="0"/>
                </a:rPr>
                <a:t>Development of the toolbox module for personalized self-help tools.</a:t>
              </a:r>
            </a:p>
          </p:txBody>
        </p:sp>
      </p:grpSp>
      <p:grpSp>
        <p:nvGrpSpPr>
          <p:cNvPr id="36" name="Group 35">
            <a:extLst>
              <a:ext uri="{FF2B5EF4-FFF2-40B4-BE49-F238E27FC236}">
                <a16:creationId xmlns:a16="http://schemas.microsoft.com/office/drawing/2014/main" id="{E9613243-C4DA-5CC5-7318-211CCB5D3BA1}"/>
              </a:ext>
            </a:extLst>
          </p:cNvPr>
          <p:cNvGrpSpPr/>
          <p:nvPr/>
        </p:nvGrpSpPr>
        <p:grpSpPr>
          <a:xfrm>
            <a:off x="4933953" y="3548880"/>
            <a:ext cx="5446027" cy="950862"/>
            <a:chOff x="5292036" y="974450"/>
            <a:chExt cx="5446027" cy="950862"/>
          </a:xfrm>
        </p:grpSpPr>
        <p:sp>
          <p:nvSpPr>
            <p:cNvPr id="37" name="TextBox 36">
              <a:extLst>
                <a:ext uri="{FF2B5EF4-FFF2-40B4-BE49-F238E27FC236}">
                  <a16:creationId xmlns:a16="http://schemas.microsoft.com/office/drawing/2014/main" id="{A6B8D799-B9DD-C367-C39E-7D4C8AA8760C}"/>
                </a:ext>
              </a:extLst>
            </p:cNvPr>
            <p:cNvSpPr txBox="1"/>
            <p:nvPr/>
          </p:nvSpPr>
          <p:spPr>
            <a:xfrm>
              <a:off x="6230371" y="1052382"/>
              <a:ext cx="4507692" cy="369332"/>
            </a:xfrm>
            <a:prstGeom prst="rect">
              <a:avLst/>
            </a:prstGeom>
            <a:noFill/>
          </p:spPr>
          <p:txBody>
            <a:bodyPr wrap="square" lIns="108000" rIns="108000" rtlCol="0">
              <a:spAutoFit/>
            </a:bodyPr>
            <a:lstStyle/>
            <a:p>
              <a:r>
                <a:rPr lang="en-MY" b="1" dirty="0"/>
                <a:t>Motivation and Rewards Module</a:t>
              </a:r>
              <a:endParaRPr lang="ko-KR" altLang="en-US" sz="2000" b="1" dirty="0">
                <a:cs typeface="Arial" pitchFamily="34" charset="0"/>
              </a:endParaRPr>
            </a:p>
          </p:txBody>
        </p:sp>
        <p:sp>
          <p:nvSpPr>
            <p:cNvPr id="38" name="TextBox 37">
              <a:extLst>
                <a:ext uri="{FF2B5EF4-FFF2-40B4-BE49-F238E27FC236}">
                  <a16:creationId xmlns:a16="http://schemas.microsoft.com/office/drawing/2014/main" id="{0B653FF4-B6FB-AB93-3922-3E2C06C965CE}"/>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04</a:t>
              </a:r>
              <a:endParaRPr lang="ko-KR" altLang="en-US" sz="3600" b="1" dirty="0">
                <a:cs typeface="Arial" pitchFamily="34" charset="0"/>
              </a:endParaRPr>
            </a:p>
          </p:txBody>
        </p:sp>
        <p:sp>
          <p:nvSpPr>
            <p:cNvPr id="39" name="TextBox 38">
              <a:extLst>
                <a:ext uri="{FF2B5EF4-FFF2-40B4-BE49-F238E27FC236}">
                  <a16:creationId xmlns:a16="http://schemas.microsoft.com/office/drawing/2014/main" id="{445F0EFD-EB50-E7D7-6859-19A8BA3BD815}"/>
                </a:ext>
              </a:extLst>
            </p:cNvPr>
            <p:cNvSpPr txBox="1"/>
            <p:nvPr/>
          </p:nvSpPr>
          <p:spPr>
            <a:xfrm>
              <a:off x="6376998" y="1463647"/>
              <a:ext cx="4034202" cy="461665"/>
            </a:xfrm>
            <a:prstGeom prst="rect">
              <a:avLst/>
            </a:prstGeom>
            <a:noFill/>
          </p:spPr>
          <p:txBody>
            <a:bodyPr wrap="square" lIns="0" rIns="0" rtlCol="0">
              <a:spAutoFit/>
            </a:bodyPr>
            <a:lstStyle/>
            <a:p>
              <a:r>
                <a:rPr lang="en-US" sz="1200" dirty="0">
                  <a:ea typeface="Roboto Condensed Light" panose="02000000000000000000" pitchFamily="2" charset="0"/>
                  <a:cs typeface="Roboto Condensed Light" panose="02000000000000000000" pitchFamily="2" charset="0"/>
                </a:rPr>
                <a:t>Gamification features to boost engagement with points, badges, and avatars.</a:t>
              </a:r>
            </a:p>
          </p:txBody>
        </p:sp>
      </p:grpSp>
      <p:pic>
        <p:nvPicPr>
          <p:cNvPr id="4" name="Picture 3">
            <a:extLst>
              <a:ext uri="{FF2B5EF4-FFF2-40B4-BE49-F238E27FC236}">
                <a16:creationId xmlns:a16="http://schemas.microsoft.com/office/drawing/2014/main" id="{1A63027A-A8CD-9E48-8312-06F52A14B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7869" y="6711155"/>
            <a:ext cx="1951264" cy="146845"/>
          </a:xfrm>
          <a:prstGeom prst="rect">
            <a:avLst/>
          </a:prstGeom>
        </p:spPr>
      </p:pic>
      <p:sp>
        <p:nvSpPr>
          <p:cNvPr id="2" name="Rectangle 1">
            <a:extLst>
              <a:ext uri="{FF2B5EF4-FFF2-40B4-BE49-F238E27FC236}">
                <a16:creationId xmlns:a16="http://schemas.microsoft.com/office/drawing/2014/main" id="{99A87D55-603C-4DF9-8B84-C19726789F83}"/>
              </a:ext>
            </a:extLst>
          </p:cNvPr>
          <p:cNvSpPr/>
          <p:nvPr/>
        </p:nvSpPr>
        <p:spPr>
          <a:xfrm>
            <a:off x="332587" y="1763776"/>
            <a:ext cx="4034202" cy="1785104"/>
          </a:xfrm>
          <a:prstGeom prst="rect">
            <a:avLst/>
          </a:prstGeom>
        </p:spPr>
        <p:txBody>
          <a:bodyPr wrap="square">
            <a:spAutoFit/>
          </a:bodyPr>
          <a:lstStyle/>
          <a:p>
            <a:r>
              <a:rPr lang="en-MY" sz="5500" dirty="0">
                <a:solidFill>
                  <a:schemeClr val="bg1"/>
                </a:solidFill>
              </a:rPr>
              <a:t>Development Process</a:t>
            </a:r>
          </a:p>
        </p:txBody>
      </p:sp>
      <p:sp>
        <p:nvSpPr>
          <p:cNvPr id="3" name="Rectangle 2">
            <a:extLst>
              <a:ext uri="{FF2B5EF4-FFF2-40B4-BE49-F238E27FC236}">
                <a16:creationId xmlns:a16="http://schemas.microsoft.com/office/drawing/2014/main" id="{61F57FA6-F4C2-410C-8F53-637D5A70E23A}"/>
              </a:ext>
            </a:extLst>
          </p:cNvPr>
          <p:cNvSpPr/>
          <p:nvPr/>
        </p:nvSpPr>
        <p:spPr>
          <a:xfrm>
            <a:off x="445926" y="4201672"/>
            <a:ext cx="3688153" cy="923330"/>
          </a:xfrm>
          <a:prstGeom prst="rect">
            <a:avLst/>
          </a:prstGeom>
        </p:spPr>
        <p:txBody>
          <a:bodyPr wrap="square">
            <a:spAutoFit/>
          </a:bodyPr>
          <a:lstStyle/>
          <a:p>
            <a:r>
              <a:rPr lang="en-US" dirty="0">
                <a:solidFill>
                  <a:schemeClr val="bg1"/>
                </a:solidFill>
              </a:rPr>
              <a:t>The project followed an </a:t>
            </a:r>
            <a:r>
              <a:rPr lang="en-US" b="1" dirty="0">
                <a:solidFill>
                  <a:schemeClr val="bg1"/>
                </a:solidFill>
              </a:rPr>
              <a:t>Agile development methodology</a:t>
            </a:r>
            <a:r>
              <a:rPr lang="en-US" dirty="0">
                <a:solidFill>
                  <a:schemeClr val="bg1"/>
                </a:solidFill>
              </a:rPr>
              <a:t>, organized into six sprints</a:t>
            </a:r>
            <a:endParaRPr lang="en-MY" dirty="0">
              <a:solidFill>
                <a:schemeClr val="bg1"/>
              </a:solidFill>
            </a:endParaRPr>
          </a:p>
        </p:txBody>
      </p:sp>
      <p:grpSp>
        <p:nvGrpSpPr>
          <p:cNvPr id="21" name="Group 20">
            <a:extLst>
              <a:ext uri="{FF2B5EF4-FFF2-40B4-BE49-F238E27FC236}">
                <a16:creationId xmlns:a16="http://schemas.microsoft.com/office/drawing/2014/main" id="{5769FCA1-08AF-4949-93EF-02E3E15CC36A}"/>
              </a:ext>
            </a:extLst>
          </p:cNvPr>
          <p:cNvGrpSpPr/>
          <p:nvPr/>
        </p:nvGrpSpPr>
        <p:grpSpPr>
          <a:xfrm>
            <a:off x="4933953" y="5751336"/>
            <a:ext cx="5446027" cy="950862"/>
            <a:chOff x="5292036" y="974450"/>
            <a:chExt cx="5446027" cy="950862"/>
          </a:xfrm>
        </p:grpSpPr>
        <p:sp>
          <p:nvSpPr>
            <p:cNvPr id="22" name="TextBox 21">
              <a:extLst>
                <a:ext uri="{FF2B5EF4-FFF2-40B4-BE49-F238E27FC236}">
                  <a16:creationId xmlns:a16="http://schemas.microsoft.com/office/drawing/2014/main" id="{5CE9BB18-E340-4461-85B9-71A58B3F2EC2}"/>
                </a:ext>
              </a:extLst>
            </p:cNvPr>
            <p:cNvSpPr txBox="1"/>
            <p:nvPr/>
          </p:nvSpPr>
          <p:spPr>
            <a:xfrm>
              <a:off x="6230371" y="1052382"/>
              <a:ext cx="4507692" cy="369332"/>
            </a:xfrm>
            <a:prstGeom prst="rect">
              <a:avLst/>
            </a:prstGeom>
            <a:noFill/>
          </p:spPr>
          <p:txBody>
            <a:bodyPr wrap="square" lIns="108000" rIns="108000" rtlCol="0">
              <a:spAutoFit/>
            </a:bodyPr>
            <a:lstStyle/>
            <a:p>
              <a:r>
                <a:rPr lang="en-MY" b="1" dirty="0"/>
                <a:t>Content Creation Module</a:t>
              </a:r>
              <a:endParaRPr lang="ko-KR" altLang="en-US" sz="2000" b="1" dirty="0">
                <a:cs typeface="Arial" pitchFamily="34" charset="0"/>
              </a:endParaRPr>
            </a:p>
          </p:txBody>
        </p:sp>
        <p:sp>
          <p:nvSpPr>
            <p:cNvPr id="23" name="TextBox 22">
              <a:extLst>
                <a:ext uri="{FF2B5EF4-FFF2-40B4-BE49-F238E27FC236}">
                  <a16:creationId xmlns:a16="http://schemas.microsoft.com/office/drawing/2014/main" id="{43D0BBE4-AE40-448C-9D24-A74D587BECCC}"/>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06</a:t>
              </a:r>
              <a:endParaRPr lang="ko-KR" altLang="en-US" sz="3600" b="1" dirty="0">
                <a:cs typeface="Arial" pitchFamily="34" charset="0"/>
              </a:endParaRPr>
            </a:p>
          </p:txBody>
        </p:sp>
        <p:sp>
          <p:nvSpPr>
            <p:cNvPr id="24" name="TextBox 23">
              <a:extLst>
                <a:ext uri="{FF2B5EF4-FFF2-40B4-BE49-F238E27FC236}">
                  <a16:creationId xmlns:a16="http://schemas.microsoft.com/office/drawing/2014/main" id="{C38DBD2A-2A15-4845-91FC-ED7AB90B7F1B}"/>
                </a:ext>
              </a:extLst>
            </p:cNvPr>
            <p:cNvSpPr txBox="1"/>
            <p:nvPr/>
          </p:nvSpPr>
          <p:spPr>
            <a:xfrm>
              <a:off x="6376998" y="1463647"/>
              <a:ext cx="4034202" cy="461665"/>
            </a:xfrm>
            <a:prstGeom prst="rect">
              <a:avLst/>
            </a:prstGeom>
            <a:noFill/>
          </p:spPr>
          <p:txBody>
            <a:bodyPr wrap="square" lIns="0" rIns="0" rtlCol="0">
              <a:spAutoFit/>
            </a:bodyPr>
            <a:lstStyle/>
            <a:p>
              <a:r>
                <a:rPr lang="en-US" sz="1200" dirty="0"/>
                <a:t>Empowering mental health professionals to create and share valuable content.</a:t>
              </a:r>
              <a:endParaRPr lang="en-US" sz="1200" dirty="0">
                <a:ea typeface="Roboto Condensed Light" panose="02000000000000000000" pitchFamily="2" charset="0"/>
                <a:cs typeface="Roboto Condensed Light" panose="02000000000000000000" pitchFamily="2" charset="0"/>
              </a:endParaRPr>
            </a:p>
          </p:txBody>
        </p:sp>
      </p:grpSp>
      <p:grpSp>
        <p:nvGrpSpPr>
          <p:cNvPr id="25" name="Group 24">
            <a:extLst>
              <a:ext uri="{FF2B5EF4-FFF2-40B4-BE49-F238E27FC236}">
                <a16:creationId xmlns:a16="http://schemas.microsoft.com/office/drawing/2014/main" id="{CBCD922F-15D9-46CF-9F34-B7C404859C3C}"/>
              </a:ext>
            </a:extLst>
          </p:cNvPr>
          <p:cNvGrpSpPr/>
          <p:nvPr/>
        </p:nvGrpSpPr>
        <p:grpSpPr>
          <a:xfrm>
            <a:off x="4933953" y="4650108"/>
            <a:ext cx="5446027" cy="950862"/>
            <a:chOff x="5292036" y="974450"/>
            <a:chExt cx="5446027" cy="950862"/>
          </a:xfrm>
        </p:grpSpPr>
        <p:sp>
          <p:nvSpPr>
            <p:cNvPr id="40" name="TextBox 39">
              <a:extLst>
                <a:ext uri="{FF2B5EF4-FFF2-40B4-BE49-F238E27FC236}">
                  <a16:creationId xmlns:a16="http://schemas.microsoft.com/office/drawing/2014/main" id="{4884109B-6AE4-42B4-BE39-3F81C8B66523}"/>
                </a:ext>
              </a:extLst>
            </p:cNvPr>
            <p:cNvSpPr txBox="1"/>
            <p:nvPr/>
          </p:nvSpPr>
          <p:spPr>
            <a:xfrm>
              <a:off x="6230371" y="1052382"/>
              <a:ext cx="4507692" cy="369332"/>
            </a:xfrm>
            <a:prstGeom prst="rect">
              <a:avLst/>
            </a:prstGeom>
            <a:noFill/>
          </p:spPr>
          <p:txBody>
            <a:bodyPr wrap="square" lIns="108000" rIns="108000" rtlCol="0">
              <a:spAutoFit/>
            </a:bodyPr>
            <a:lstStyle/>
            <a:p>
              <a:r>
                <a:rPr lang="en-MY" b="1" dirty="0"/>
                <a:t>Admin Management Module</a:t>
              </a:r>
              <a:endParaRPr lang="ko-KR" altLang="en-US" sz="2000" b="1" dirty="0">
                <a:cs typeface="Arial" pitchFamily="34" charset="0"/>
              </a:endParaRPr>
            </a:p>
          </p:txBody>
        </p:sp>
        <p:sp>
          <p:nvSpPr>
            <p:cNvPr id="41" name="TextBox 40">
              <a:extLst>
                <a:ext uri="{FF2B5EF4-FFF2-40B4-BE49-F238E27FC236}">
                  <a16:creationId xmlns:a16="http://schemas.microsoft.com/office/drawing/2014/main" id="{7F38B9BD-B3A4-41AE-8A99-8C173E07C0DA}"/>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05</a:t>
              </a:r>
              <a:endParaRPr lang="ko-KR" altLang="en-US" sz="3600" b="1" dirty="0">
                <a:cs typeface="Arial" pitchFamily="34" charset="0"/>
              </a:endParaRPr>
            </a:p>
          </p:txBody>
        </p:sp>
        <p:sp>
          <p:nvSpPr>
            <p:cNvPr id="42" name="TextBox 41">
              <a:extLst>
                <a:ext uri="{FF2B5EF4-FFF2-40B4-BE49-F238E27FC236}">
                  <a16:creationId xmlns:a16="http://schemas.microsoft.com/office/drawing/2014/main" id="{BA77394F-7126-4CDF-97B5-814CCE6A3FAD}"/>
                </a:ext>
              </a:extLst>
            </p:cNvPr>
            <p:cNvSpPr txBox="1"/>
            <p:nvPr/>
          </p:nvSpPr>
          <p:spPr>
            <a:xfrm>
              <a:off x="6376998" y="1463647"/>
              <a:ext cx="4034202" cy="461665"/>
            </a:xfrm>
            <a:prstGeom prst="rect">
              <a:avLst/>
            </a:prstGeom>
            <a:noFill/>
          </p:spPr>
          <p:txBody>
            <a:bodyPr wrap="square" lIns="0" rIns="0" rtlCol="0">
              <a:spAutoFit/>
            </a:bodyPr>
            <a:lstStyle/>
            <a:p>
              <a:r>
                <a:rPr lang="en-US" sz="1200" dirty="0"/>
                <a:t>Admin functionalities like managing content and monitoring diagnostic trends.</a:t>
              </a:r>
              <a:endParaRPr lang="en-US" sz="1200" dirty="0">
                <a:ea typeface="Roboto Condensed Light" panose="02000000000000000000" pitchFamily="2" charset="0"/>
                <a:cs typeface="Roboto Condensed Light" panose="02000000000000000000" pitchFamily="2" charset="0"/>
              </a:endParaRPr>
            </a:p>
          </p:txBody>
        </p:sp>
      </p:grpSp>
      <p:sp>
        <p:nvSpPr>
          <p:cNvPr id="5" name="Rectangle 4">
            <a:extLst>
              <a:ext uri="{FF2B5EF4-FFF2-40B4-BE49-F238E27FC236}">
                <a16:creationId xmlns:a16="http://schemas.microsoft.com/office/drawing/2014/main" id="{9416225A-AED9-40AF-8A3F-CAD3ED5A8DD8}"/>
              </a:ext>
            </a:extLst>
          </p:cNvPr>
          <p:cNvSpPr/>
          <p:nvPr/>
        </p:nvSpPr>
        <p:spPr>
          <a:xfrm>
            <a:off x="4846491" y="-28680"/>
            <a:ext cx="1272977" cy="523220"/>
          </a:xfrm>
          <a:prstGeom prst="rect">
            <a:avLst/>
          </a:prstGeom>
        </p:spPr>
        <p:txBody>
          <a:bodyPr wrap="none">
            <a:spAutoFit/>
          </a:bodyPr>
          <a:lstStyle/>
          <a:p>
            <a:r>
              <a:rPr lang="en-MY" sz="2800" b="1" dirty="0"/>
              <a:t>Sprints</a:t>
            </a:r>
            <a:r>
              <a:rPr lang="en-MY" dirty="0"/>
              <a:t> </a:t>
            </a:r>
          </a:p>
        </p:txBody>
      </p:sp>
    </p:spTree>
    <p:extLst>
      <p:ext uri="{BB962C8B-B14F-4D97-AF65-F5344CB8AC3E}">
        <p14:creationId xmlns:p14="http://schemas.microsoft.com/office/powerpoint/2010/main" val="2699332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0A1D4B-B8AB-E542-44C2-7821E42AFAE0}"/>
              </a:ext>
            </a:extLst>
          </p:cNvPr>
          <p:cNvSpPr txBox="1"/>
          <p:nvPr/>
        </p:nvSpPr>
        <p:spPr>
          <a:xfrm>
            <a:off x="4246895" y="3457404"/>
            <a:ext cx="5943600" cy="1323439"/>
          </a:xfrm>
          <a:prstGeom prst="rect">
            <a:avLst/>
          </a:prstGeom>
          <a:noFill/>
        </p:spPr>
        <p:txBody>
          <a:bodyPr wrap="square" rtlCol="0">
            <a:spAutoFit/>
          </a:bodyPr>
          <a:lstStyle/>
          <a:p>
            <a:r>
              <a:rPr lang="en-US" sz="1600" dirty="0"/>
              <a:t>In this project, I had the opportunity to develop and apply key leadership skills and qualities that were instrumental in guiding our team toward success. Through the course of Assignments 1 to 4, I gained insights into effective team management, collaboration, and problem-solving in a dynamic, real-world project setting.</a:t>
            </a:r>
            <a:endParaRPr lang="en-MY" sz="1600" spc="300" dirty="0">
              <a:solidFill>
                <a:schemeClr val="tx1">
                  <a:lumMod val="75000"/>
                  <a:lumOff val="25000"/>
                </a:schemeClr>
              </a:solidFill>
            </a:endParaRPr>
          </a:p>
        </p:txBody>
      </p:sp>
      <p:sp>
        <p:nvSpPr>
          <p:cNvPr id="3" name="TextBox 2">
            <a:extLst>
              <a:ext uri="{FF2B5EF4-FFF2-40B4-BE49-F238E27FC236}">
                <a16:creationId xmlns:a16="http://schemas.microsoft.com/office/drawing/2014/main" id="{FA22FE14-4D31-9066-788E-550367FE7507}"/>
              </a:ext>
            </a:extLst>
          </p:cNvPr>
          <p:cNvSpPr txBox="1"/>
          <p:nvPr/>
        </p:nvSpPr>
        <p:spPr>
          <a:xfrm>
            <a:off x="4246895" y="2898772"/>
            <a:ext cx="5943600" cy="461665"/>
          </a:xfrm>
          <a:prstGeom prst="rect">
            <a:avLst/>
          </a:prstGeom>
          <a:noFill/>
        </p:spPr>
        <p:txBody>
          <a:bodyPr wrap="square" rtlCol="0">
            <a:spAutoFit/>
          </a:bodyPr>
          <a:lstStyle/>
          <a:p>
            <a:r>
              <a:rPr lang="en-MY" sz="2400" dirty="0"/>
              <a:t>Self-Reflection</a:t>
            </a:r>
            <a:endParaRPr lang="en-MY" sz="2400" spc="300" dirty="0">
              <a:solidFill>
                <a:schemeClr val="tx1">
                  <a:lumMod val="75000"/>
                  <a:lumOff val="25000"/>
                </a:schemeClr>
              </a:solidFill>
            </a:endParaRPr>
          </a:p>
        </p:txBody>
      </p:sp>
      <p:sp>
        <p:nvSpPr>
          <p:cNvPr id="4" name="TextBox 3">
            <a:extLst>
              <a:ext uri="{FF2B5EF4-FFF2-40B4-BE49-F238E27FC236}">
                <a16:creationId xmlns:a16="http://schemas.microsoft.com/office/drawing/2014/main" id="{8FA2359B-FA47-8309-5FD5-D51DACB42789}"/>
              </a:ext>
            </a:extLst>
          </p:cNvPr>
          <p:cNvSpPr txBox="1"/>
          <p:nvPr/>
        </p:nvSpPr>
        <p:spPr>
          <a:xfrm>
            <a:off x="4246895" y="1096316"/>
            <a:ext cx="5132079" cy="1323439"/>
          </a:xfrm>
          <a:prstGeom prst="rect">
            <a:avLst/>
          </a:prstGeom>
          <a:noFill/>
        </p:spPr>
        <p:txBody>
          <a:bodyPr wrap="square" rtlCol="0">
            <a:spAutoFit/>
          </a:bodyPr>
          <a:lstStyle/>
          <a:p>
            <a:r>
              <a:rPr lang="en-US" sz="4000" b="1" kern="0" dirty="0">
                <a:solidFill>
                  <a:srgbClr val="6C1D35"/>
                </a:solidFill>
              </a:rPr>
              <a:t>UNIVERSITI TEKNOLOGI MALAYSIA</a:t>
            </a:r>
          </a:p>
        </p:txBody>
      </p:sp>
      <p:pic>
        <p:nvPicPr>
          <p:cNvPr id="5" name="Picture 4">
            <a:extLst>
              <a:ext uri="{FF2B5EF4-FFF2-40B4-BE49-F238E27FC236}">
                <a16:creationId xmlns:a16="http://schemas.microsoft.com/office/drawing/2014/main" id="{7084184C-BDA4-1EED-A843-A55D7EBB6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14719AA7-B70D-336C-73F5-A522B614BE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58BC7F27-4F90-296B-D41B-62FA9D80EDA4}"/>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04293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98773A-5415-C408-A866-2B6074B2DF5C}"/>
              </a:ext>
            </a:extLst>
          </p:cNvPr>
          <p:cNvSpPr>
            <a:spLocks noGrp="1"/>
          </p:cNvSpPr>
          <p:nvPr>
            <p:ph type="title"/>
          </p:nvPr>
        </p:nvSpPr>
        <p:spPr/>
        <p:txBody>
          <a:bodyPr/>
          <a:lstStyle/>
          <a:p>
            <a:r>
              <a:rPr lang="en-MY" dirty="0"/>
              <a:t>Knowledge and Skills</a:t>
            </a:r>
            <a:endParaRPr lang="en-US" dirty="0"/>
          </a:p>
        </p:txBody>
      </p:sp>
      <p:sp>
        <p:nvSpPr>
          <p:cNvPr id="24" name="Rectangle 23">
            <a:extLst>
              <a:ext uri="{FF2B5EF4-FFF2-40B4-BE49-F238E27FC236}">
                <a16:creationId xmlns:a16="http://schemas.microsoft.com/office/drawing/2014/main" id="{109E8BDB-72B2-0E7E-9CB8-33F6322F657E}"/>
              </a:ext>
            </a:extLst>
          </p:cNvPr>
          <p:cNvSpPr>
            <a:spLocks noChangeArrowheads="1"/>
          </p:cNvSpPr>
          <p:nvPr/>
        </p:nvSpPr>
        <p:spPr bwMode="auto">
          <a:xfrm>
            <a:off x="810799" y="1852095"/>
            <a:ext cx="601662" cy="68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2800" b="1" dirty="0">
                <a:solidFill>
                  <a:schemeClr val="bg1"/>
                </a:solidFill>
                <a:latin typeface="+mn-lt"/>
              </a:rPr>
              <a:t>01</a:t>
            </a:r>
            <a:endParaRPr lang="en-US" altLang="en-US" sz="2800" dirty="0">
              <a:solidFill>
                <a:schemeClr val="bg1"/>
              </a:solidFill>
              <a:latin typeface="+mn-lt"/>
            </a:endParaRPr>
          </a:p>
        </p:txBody>
      </p:sp>
      <p:sp>
        <p:nvSpPr>
          <p:cNvPr id="25" name="Rectangle 24">
            <a:extLst>
              <a:ext uri="{FF2B5EF4-FFF2-40B4-BE49-F238E27FC236}">
                <a16:creationId xmlns:a16="http://schemas.microsoft.com/office/drawing/2014/main" id="{4635C794-6333-0AFB-937F-B4FB096C52C9}"/>
              </a:ext>
            </a:extLst>
          </p:cNvPr>
          <p:cNvSpPr>
            <a:spLocks noChangeArrowheads="1"/>
          </p:cNvSpPr>
          <p:nvPr/>
        </p:nvSpPr>
        <p:spPr bwMode="auto">
          <a:xfrm>
            <a:off x="4431478" y="1818790"/>
            <a:ext cx="803283" cy="68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2800" b="1" dirty="0">
                <a:solidFill>
                  <a:schemeClr val="bg1"/>
                </a:solidFill>
                <a:latin typeface="+mn-lt"/>
              </a:rPr>
              <a:t>02</a:t>
            </a:r>
            <a:endParaRPr lang="en-US" altLang="en-US" sz="2800" dirty="0">
              <a:solidFill>
                <a:schemeClr val="bg1"/>
              </a:solidFill>
              <a:latin typeface="+mn-lt"/>
            </a:endParaRPr>
          </a:p>
        </p:txBody>
      </p:sp>
      <p:sp>
        <p:nvSpPr>
          <p:cNvPr id="26" name="Rectangle 25">
            <a:extLst>
              <a:ext uri="{FF2B5EF4-FFF2-40B4-BE49-F238E27FC236}">
                <a16:creationId xmlns:a16="http://schemas.microsoft.com/office/drawing/2014/main" id="{C5FE7B91-C38E-BE63-6E57-E7D5A6EF3BE4}"/>
              </a:ext>
            </a:extLst>
          </p:cNvPr>
          <p:cNvSpPr/>
          <p:nvPr/>
        </p:nvSpPr>
        <p:spPr>
          <a:xfrm>
            <a:off x="8180881" y="1818790"/>
            <a:ext cx="641170" cy="684803"/>
          </a:xfrm>
          <a:prstGeom prst="rect">
            <a:avLst/>
          </a:prstGeom>
        </p:spPr>
        <p:txBody>
          <a:bodyPr wrap="square">
            <a:spAutoFit/>
          </a:bodyPr>
          <a:lstStyle/>
          <a:p>
            <a:pPr eaLnBrk="1" fontAlgn="auto" hangingPunct="1">
              <a:lnSpc>
                <a:spcPct val="150000"/>
              </a:lnSpc>
              <a:spcBef>
                <a:spcPts val="0"/>
              </a:spcBef>
              <a:spcAft>
                <a:spcPts val="0"/>
              </a:spcAft>
              <a:defRPr/>
            </a:pPr>
            <a:r>
              <a:rPr lang="en-US" sz="2800" b="1" dirty="0">
                <a:solidFill>
                  <a:schemeClr val="bg1"/>
                </a:solidFill>
              </a:rPr>
              <a:t>03</a:t>
            </a:r>
            <a:endParaRPr lang="en-US" sz="2800" dirty="0">
              <a:solidFill>
                <a:schemeClr val="bg1"/>
              </a:solidFill>
            </a:endParaRPr>
          </a:p>
        </p:txBody>
      </p:sp>
      <p:sp>
        <p:nvSpPr>
          <p:cNvPr id="30" name="TextBox 29">
            <a:extLst>
              <a:ext uri="{FF2B5EF4-FFF2-40B4-BE49-F238E27FC236}">
                <a16:creationId xmlns:a16="http://schemas.microsoft.com/office/drawing/2014/main" id="{83BB72A1-A40D-22BB-39C0-85035D6803E7}"/>
              </a:ext>
            </a:extLst>
          </p:cNvPr>
          <p:cNvSpPr txBox="1"/>
          <p:nvPr/>
        </p:nvSpPr>
        <p:spPr>
          <a:xfrm>
            <a:off x="1265585" y="2593524"/>
            <a:ext cx="2406493" cy="938719"/>
          </a:xfrm>
          <a:prstGeom prst="rect">
            <a:avLst/>
          </a:prstGeom>
          <a:noFill/>
        </p:spPr>
        <p:txBody>
          <a:bodyPr wrap="square" lIns="0" rIns="0" rtlCol="0">
            <a:spAutoFit/>
          </a:bodyPr>
          <a:lstStyle/>
          <a:p>
            <a:pPr marL="171450" indent="-171450">
              <a:buFont typeface="Arial" panose="020B0604020202020204" pitchFamily="34" charset="0"/>
              <a:buChar char="•"/>
            </a:pPr>
            <a:r>
              <a:rPr lang="en-US" sz="1100" dirty="0">
                <a:solidFill>
                  <a:schemeClr val="bg1"/>
                </a:solidFill>
                <a:ea typeface="Roboto Condensed Light" panose="02000000000000000000" pitchFamily="2" charset="0"/>
                <a:cs typeface="Roboto Condensed Light" panose="02000000000000000000" pitchFamily="2" charset="0"/>
              </a:rPr>
              <a:t>We used Agile principles to structure our project into manageable sprints, enabling us to achieve steady progress.</a:t>
            </a:r>
          </a:p>
          <a:p>
            <a:pPr marL="171450" indent="-171450">
              <a:buFont typeface="Arial" panose="020B0604020202020204" pitchFamily="34" charset="0"/>
              <a:buChar char="•"/>
            </a:pPr>
            <a:r>
              <a:rPr lang="en-US" sz="1100" dirty="0">
                <a:solidFill>
                  <a:schemeClr val="bg1"/>
                </a:solidFill>
                <a:ea typeface="Roboto Condensed Light" panose="02000000000000000000" pitchFamily="2" charset="0"/>
                <a:cs typeface="Roboto Condensed Light" panose="02000000000000000000" pitchFamily="2" charset="0"/>
              </a:rPr>
              <a:t>Developed sprint backlogs to track task allocation and completion.</a:t>
            </a:r>
          </a:p>
        </p:txBody>
      </p:sp>
      <p:sp>
        <p:nvSpPr>
          <p:cNvPr id="31" name="TextBox 30">
            <a:extLst>
              <a:ext uri="{FF2B5EF4-FFF2-40B4-BE49-F238E27FC236}">
                <a16:creationId xmlns:a16="http://schemas.microsoft.com/office/drawing/2014/main" id="{175D3559-D58A-0DE9-F1E6-338E19E53FA0}"/>
              </a:ext>
            </a:extLst>
          </p:cNvPr>
          <p:cNvSpPr txBox="1"/>
          <p:nvPr/>
        </p:nvSpPr>
        <p:spPr>
          <a:xfrm>
            <a:off x="1265585" y="2065092"/>
            <a:ext cx="2307173" cy="523220"/>
          </a:xfrm>
          <a:prstGeom prst="rect">
            <a:avLst/>
          </a:prstGeom>
          <a:noFill/>
        </p:spPr>
        <p:txBody>
          <a:bodyPr wrap="square" rtlCol="0">
            <a:spAutoFit/>
          </a:bodyPr>
          <a:lstStyle/>
          <a:p>
            <a:pPr algn="ctr"/>
            <a:r>
              <a:rPr lang="en-US" sz="1400" dirty="0">
                <a:solidFill>
                  <a:schemeClr val="bg1"/>
                </a:solidFill>
              </a:rPr>
              <a:t>Project Planning and Management</a:t>
            </a:r>
          </a:p>
        </p:txBody>
      </p:sp>
      <p:sp>
        <p:nvSpPr>
          <p:cNvPr id="34" name="TextBox 33">
            <a:extLst>
              <a:ext uri="{FF2B5EF4-FFF2-40B4-BE49-F238E27FC236}">
                <a16:creationId xmlns:a16="http://schemas.microsoft.com/office/drawing/2014/main" id="{AA624F57-D380-6B2F-955E-7395CCEC0151}"/>
              </a:ext>
            </a:extLst>
          </p:cNvPr>
          <p:cNvSpPr txBox="1"/>
          <p:nvPr/>
        </p:nvSpPr>
        <p:spPr>
          <a:xfrm>
            <a:off x="5061115" y="2588312"/>
            <a:ext cx="2406493" cy="769441"/>
          </a:xfrm>
          <a:prstGeom prst="rect">
            <a:avLst/>
          </a:prstGeom>
          <a:noFill/>
        </p:spPr>
        <p:txBody>
          <a:bodyPr wrap="square" lIns="0" rIns="0" rtlCol="0">
            <a:spAutoFit/>
          </a:bodyPr>
          <a:lstStyle/>
          <a:p>
            <a:r>
              <a:rPr lang="en-US" sz="1100" dirty="0">
                <a:solidFill>
                  <a:schemeClr val="bg1"/>
                </a:solidFill>
              </a:rPr>
              <a:t>Familiarity with tools like draw.io for designing use case diagrams and sequence diagrams allowed me to contribute to system design discussions.</a:t>
            </a:r>
            <a:endParaRPr lang="en-US" sz="1100" dirty="0">
              <a:solidFill>
                <a:schemeClr val="bg1"/>
              </a:solidFill>
              <a:ea typeface="Roboto Condensed Light" panose="02000000000000000000" pitchFamily="2" charset="0"/>
              <a:cs typeface="Roboto Condensed Light" panose="02000000000000000000" pitchFamily="2" charset="0"/>
            </a:endParaRPr>
          </a:p>
        </p:txBody>
      </p:sp>
      <p:sp>
        <p:nvSpPr>
          <p:cNvPr id="35" name="TextBox 34">
            <a:extLst>
              <a:ext uri="{FF2B5EF4-FFF2-40B4-BE49-F238E27FC236}">
                <a16:creationId xmlns:a16="http://schemas.microsoft.com/office/drawing/2014/main" id="{E2780775-AC4C-A2A8-405F-F8CA4B770890}"/>
              </a:ext>
            </a:extLst>
          </p:cNvPr>
          <p:cNvSpPr txBox="1"/>
          <p:nvPr/>
        </p:nvSpPr>
        <p:spPr>
          <a:xfrm>
            <a:off x="5478634" y="2065092"/>
            <a:ext cx="1571456" cy="307777"/>
          </a:xfrm>
          <a:prstGeom prst="rect">
            <a:avLst/>
          </a:prstGeom>
          <a:noFill/>
        </p:spPr>
        <p:txBody>
          <a:bodyPr wrap="none" rtlCol="0">
            <a:spAutoFit/>
          </a:bodyPr>
          <a:lstStyle/>
          <a:p>
            <a:pPr algn="ctr"/>
            <a:r>
              <a:rPr lang="en-US" sz="1400" dirty="0">
                <a:solidFill>
                  <a:schemeClr val="bg1"/>
                </a:solidFill>
              </a:rPr>
              <a:t>Technical Expertise</a:t>
            </a:r>
          </a:p>
        </p:txBody>
      </p:sp>
      <p:sp>
        <p:nvSpPr>
          <p:cNvPr id="36" name="TextBox 35">
            <a:extLst>
              <a:ext uri="{FF2B5EF4-FFF2-40B4-BE49-F238E27FC236}">
                <a16:creationId xmlns:a16="http://schemas.microsoft.com/office/drawing/2014/main" id="{6DC9B990-AC88-9AD9-AC4D-5985E26246E8}"/>
              </a:ext>
            </a:extLst>
          </p:cNvPr>
          <p:cNvSpPr txBox="1"/>
          <p:nvPr/>
        </p:nvSpPr>
        <p:spPr>
          <a:xfrm>
            <a:off x="8822051" y="2508885"/>
            <a:ext cx="2406493" cy="1107996"/>
          </a:xfrm>
          <a:prstGeom prst="rect">
            <a:avLst/>
          </a:prstGeom>
          <a:noFill/>
        </p:spPr>
        <p:txBody>
          <a:bodyPr wrap="square" lIns="0" rIns="0" rtlCol="0">
            <a:spAutoFit/>
          </a:bodyPr>
          <a:lstStyle/>
          <a:p>
            <a:pPr marL="171450" indent="-171450">
              <a:buFont typeface="Arial" panose="020B0604020202020204" pitchFamily="34" charset="0"/>
              <a:buChar char="•"/>
            </a:pPr>
            <a:r>
              <a:rPr lang="en-US" sz="1100" dirty="0">
                <a:solidFill>
                  <a:schemeClr val="bg1"/>
                </a:solidFill>
                <a:ea typeface="Roboto Condensed Light" panose="02000000000000000000" pitchFamily="2" charset="0"/>
                <a:cs typeface="Roboto Condensed Light" panose="02000000000000000000" pitchFamily="2" charset="0"/>
              </a:rPr>
              <a:t>Facilitated team meetings to ensure clear communication of objectives and deadlines.</a:t>
            </a:r>
          </a:p>
          <a:p>
            <a:pPr marL="171450" indent="-171450">
              <a:buFont typeface="Arial" panose="020B0604020202020204" pitchFamily="34" charset="0"/>
              <a:buChar char="•"/>
            </a:pPr>
            <a:r>
              <a:rPr lang="en-US" sz="1100" dirty="0">
                <a:solidFill>
                  <a:schemeClr val="bg1"/>
                </a:solidFill>
                <a:ea typeface="Roboto Condensed Light" panose="02000000000000000000" pitchFamily="2" charset="0"/>
                <a:cs typeface="Roboto Condensed Light" panose="02000000000000000000" pitchFamily="2" charset="0"/>
              </a:rPr>
              <a:t>Encouraged knowledge sharing among team members to enhance productivity and learning.</a:t>
            </a:r>
          </a:p>
        </p:txBody>
      </p:sp>
      <p:sp>
        <p:nvSpPr>
          <p:cNvPr id="37" name="TextBox 36">
            <a:extLst>
              <a:ext uri="{FF2B5EF4-FFF2-40B4-BE49-F238E27FC236}">
                <a16:creationId xmlns:a16="http://schemas.microsoft.com/office/drawing/2014/main" id="{2A2D57FB-0D87-21BA-7721-EE45264729B5}"/>
              </a:ext>
            </a:extLst>
          </p:cNvPr>
          <p:cNvSpPr txBox="1"/>
          <p:nvPr/>
        </p:nvSpPr>
        <p:spPr>
          <a:xfrm>
            <a:off x="8670501" y="2065092"/>
            <a:ext cx="2683299" cy="307777"/>
          </a:xfrm>
          <a:prstGeom prst="rect">
            <a:avLst/>
          </a:prstGeom>
          <a:noFill/>
        </p:spPr>
        <p:txBody>
          <a:bodyPr wrap="none" rtlCol="0">
            <a:spAutoFit/>
          </a:bodyPr>
          <a:lstStyle/>
          <a:p>
            <a:pPr algn="ctr"/>
            <a:r>
              <a:rPr lang="en-US" sz="1400" dirty="0">
                <a:solidFill>
                  <a:schemeClr val="bg1"/>
                </a:solidFill>
              </a:rPr>
              <a:t>Communication and Collaboration</a:t>
            </a:r>
          </a:p>
        </p:txBody>
      </p:sp>
      <p:pic>
        <p:nvPicPr>
          <p:cNvPr id="2" name="Picture 1">
            <a:extLst>
              <a:ext uri="{FF2B5EF4-FFF2-40B4-BE49-F238E27FC236}">
                <a16:creationId xmlns:a16="http://schemas.microsoft.com/office/drawing/2014/main" id="{500384DE-8BB0-8578-282C-6A8C124195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4448" y="6560382"/>
            <a:ext cx="1943103" cy="146231"/>
          </a:xfrm>
          <a:prstGeom prst="rect">
            <a:avLst/>
          </a:prstGeom>
        </p:spPr>
      </p:pic>
      <p:sp>
        <p:nvSpPr>
          <p:cNvPr id="17" name="Rectangle 16">
            <a:extLst>
              <a:ext uri="{FF2B5EF4-FFF2-40B4-BE49-F238E27FC236}">
                <a16:creationId xmlns:a16="http://schemas.microsoft.com/office/drawing/2014/main" id="{9BAB626E-8BC0-4121-A342-43E48BA13301}"/>
              </a:ext>
            </a:extLst>
          </p:cNvPr>
          <p:cNvSpPr>
            <a:spLocks noChangeArrowheads="1"/>
          </p:cNvSpPr>
          <p:nvPr/>
        </p:nvSpPr>
        <p:spPr bwMode="auto">
          <a:xfrm>
            <a:off x="842781" y="3960472"/>
            <a:ext cx="601662" cy="68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2800" b="1" dirty="0">
                <a:solidFill>
                  <a:schemeClr val="bg1"/>
                </a:solidFill>
                <a:latin typeface="+mn-lt"/>
              </a:rPr>
              <a:t>04</a:t>
            </a:r>
            <a:endParaRPr lang="en-US" altLang="en-US" sz="2800" dirty="0">
              <a:solidFill>
                <a:schemeClr val="bg1"/>
              </a:solidFill>
              <a:latin typeface="+mn-lt"/>
            </a:endParaRPr>
          </a:p>
        </p:txBody>
      </p:sp>
      <p:sp>
        <p:nvSpPr>
          <p:cNvPr id="18" name="TextBox 17">
            <a:extLst>
              <a:ext uri="{FF2B5EF4-FFF2-40B4-BE49-F238E27FC236}">
                <a16:creationId xmlns:a16="http://schemas.microsoft.com/office/drawing/2014/main" id="{75DBE653-FFD0-4C3B-B2BF-1D8A4C5F276B}"/>
              </a:ext>
            </a:extLst>
          </p:cNvPr>
          <p:cNvSpPr txBox="1"/>
          <p:nvPr/>
        </p:nvSpPr>
        <p:spPr>
          <a:xfrm>
            <a:off x="1297567" y="4701901"/>
            <a:ext cx="2406493" cy="1107996"/>
          </a:xfrm>
          <a:prstGeom prst="rect">
            <a:avLst/>
          </a:prstGeom>
          <a:noFill/>
        </p:spPr>
        <p:txBody>
          <a:bodyPr wrap="square" lIns="0" rIns="0" rtlCol="0">
            <a:spAutoFit/>
          </a:bodyPr>
          <a:lstStyle/>
          <a:p>
            <a:pPr marL="171450" indent="-171450">
              <a:buFont typeface="Arial" panose="020B0604020202020204" pitchFamily="34" charset="0"/>
              <a:buChar char="•"/>
            </a:pPr>
            <a:r>
              <a:rPr lang="en-US" sz="1100" dirty="0">
                <a:solidFill>
                  <a:schemeClr val="bg1"/>
                </a:solidFill>
                <a:ea typeface="Roboto Condensed Light" panose="02000000000000000000" pitchFamily="2" charset="0"/>
                <a:cs typeface="Roboto Condensed Light" panose="02000000000000000000" pitchFamily="2" charset="0"/>
              </a:rPr>
              <a:t>Addressed bottlenecks promptly by re-allocating resources or adjusting timelines where necessary.</a:t>
            </a:r>
          </a:p>
          <a:p>
            <a:pPr marL="171450" indent="-171450">
              <a:buFont typeface="Arial" panose="020B0604020202020204" pitchFamily="34" charset="0"/>
              <a:buChar char="•"/>
            </a:pPr>
            <a:r>
              <a:rPr lang="en-US" sz="1100" dirty="0">
                <a:solidFill>
                  <a:schemeClr val="bg1"/>
                </a:solidFill>
                <a:ea typeface="Roboto Condensed Light" panose="02000000000000000000" pitchFamily="2" charset="0"/>
                <a:cs typeface="Roboto Condensed Light" panose="02000000000000000000" pitchFamily="2" charset="0"/>
              </a:rPr>
              <a:t>Helped the team resolve technical challenges during sprint execution by fostering collaborative discussions.</a:t>
            </a:r>
          </a:p>
        </p:txBody>
      </p:sp>
      <p:sp>
        <p:nvSpPr>
          <p:cNvPr id="19" name="TextBox 18">
            <a:extLst>
              <a:ext uri="{FF2B5EF4-FFF2-40B4-BE49-F238E27FC236}">
                <a16:creationId xmlns:a16="http://schemas.microsoft.com/office/drawing/2014/main" id="{AC57FF13-9DF2-48F0-86CA-BAEC46A36F69}"/>
              </a:ext>
            </a:extLst>
          </p:cNvPr>
          <p:cNvSpPr txBox="1"/>
          <p:nvPr/>
        </p:nvSpPr>
        <p:spPr>
          <a:xfrm>
            <a:off x="1297567" y="4173469"/>
            <a:ext cx="2307173" cy="307777"/>
          </a:xfrm>
          <a:prstGeom prst="rect">
            <a:avLst/>
          </a:prstGeom>
          <a:noFill/>
        </p:spPr>
        <p:txBody>
          <a:bodyPr wrap="square" rtlCol="0">
            <a:spAutoFit/>
          </a:bodyPr>
          <a:lstStyle/>
          <a:p>
            <a:pPr algn="ctr"/>
            <a:r>
              <a:rPr lang="en-US" sz="1400" dirty="0">
                <a:solidFill>
                  <a:schemeClr val="bg1"/>
                </a:solidFill>
              </a:rPr>
              <a:t>Problem-Solving</a:t>
            </a:r>
          </a:p>
        </p:txBody>
      </p:sp>
      <p:pic>
        <p:nvPicPr>
          <p:cNvPr id="6" name="Picture 5">
            <a:extLst>
              <a:ext uri="{FF2B5EF4-FFF2-40B4-BE49-F238E27FC236}">
                <a16:creationId xmlns:a16="http://schemas.microsoft.com/office/drawing/2014/main" id="{723AC75C-760E-476A-8548-F2B85509B7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2038" y="3827892"/>
            <a:ext cx="4247923" cy="2130850"/>
          </a:xfrm>
          <a:prstGeom prst="rect">
            <a:avLst/>
          </a:prstGeom>
        </p:spPr>
      </p:pic>
      <p:sp>
        <p:nvSpPr>
          <p:cNvPr id="7" name="TextBox 6">
            <a:extLst>
              <a:ext uri="{FF2B5EF4-FFF2-40B4-BE49-F238E27FC236}">
                <a16:creationId xmlns:a16="http://schemas.microsoft.com/office/drawing/2014/main" id="{D0FC26DB-1B9A-4BCF-AB6E-C7115DA2A23A}"/>
              </a:ext>
            </a:extLst>
          </p:cNvPr>
          <p:cNvSpPr txBox="1"/>
          <p:nvPr/>
        </p:nvSpPr>
        <p:spPr>
          <a:xfrm>
            <a:off x="4693211" y="5997952"/>
            <a:ext cx="2847254" cy="261610"/>
          </a:xfrm>
          <a:prstGeom prst="rect">
            <a:avLst/>
          </a:prstGeom>
          <a:noFill/>
        </p:spPr>
        <p:txBody>
          <a:bodyPr wrap="none" rtlCol="0">
            <a:spAutoFit/>
          </a:bodyPr>
          <a:lstStyle/>
          <a:p>
            <a:r>
              <a:rPr lang="en-MY" sz="1100" dirty="0">
                <a:solidFill>
                  <a:schemeClr val="bg1"/>
                </a:solidFill>
              </a:rPr>
              <a:t>Picture 1 : using draw.io to complete our task</a:t>
            </a:r>
          </a:p>
        </p:txBody>
      </p:sp>
      <p:pic>
        <p:nvPicPr>
          <p:cNvPr id="9" name="Picture 8">
            <a:extLst>
              <a:ext uri="{FF2B5EF4-FFF2-40B4-BE49-F238E27FC236}">
                <a16:creationId xmlns:a16="http://schemas.microsoft.com/office/drawing/2014/main" id="{2BA09236-5114-41FA-96D5-FDBDBD2E952D}"/>
              </a:ext>
            </a:extLst>
          </p:cNvPr>
          <p:cNvPicPr>
            <a:picLocks noChangeAspect="1"/>
          </p:cNvPicPr>
          <p:nvPr/>
        </p:nvPicPr>
        <p:blipFill rotWithShape="1">
          <a:blip r:embed="rId4">
            <a:extLst>
              <a:ext uri="{28A0092B-C50C-407E-A947-70E740481C1C}">
                <a14:useLocalDpi xmlns:a14="http://schemas.microsoft.com/office/drawing/2010/main" val="0"/>
              </a:ext>
            </a:extLst>
          </a:blip>
          <a:srcRect t="5324"/>
          <a:stretch/>
        </p:blipFill>
        <p:spPr>
          <a:xfrm>
            <a:off x="8953353" y="3616881"/>
            <a:ext cx="1553286" cy="3185029"/>
          </a:xfrm>
          <a:prstGeom prst="rect">
            <a:avLst/>
          </a:prstGeom>
        </p:spPr>
      </p:pic>
      <p:sp>
        <p:nvSpPr>
          <p:cNvPr id="27" name="TextBox 26">
            <a:extLst>
              <a:ext uri="{FF2B5EF4-FFF2-40B4-BE49-F238E27FC236}">
                <a16:creationId xmlns:a16="http://schemas.microsoft.com/office/drawing/2014/main" id="{3B0CE303-540A-4487-A476-478D06E17207}"/>
              </a:ext>
            </a:extLst>
          </p:cNvPr>
          <p:cNvSpPr txBox="1"/>
          <p:nvPr/>
        </p:nvSpPr>
        <p:spPr>
          <a:xfrm>
            <a:off x="10545567" y="3806433"/>
            <a:ext cx="1140410" cy="938719"/>
          </a:xfrm>
          <a:prstGeom prst="rect">
            <a:avLst/>
          </a:prstGeom>
          <a:noFill/>
        </p:spPr>
        <p:txBody>
          <a:bodyPr wrap="square" rtlCol="0">
            <a:spAutoFit/>
          </a:bodyPr>
          <a:lstStyle/>
          <a:p>
            <a:r>
              <a:rPr lang="en-MY" sz="1100" dirty="0">
                <a:solidFill>
                  <a:schemeClr val="bg1"/>
                </a:solidFill>
              </a:rPr>
              <a:t>Picture 2 : discuss and distribute task in group through </a:t>
            </a:r>
            <a:r>
              <a:rPr lang="en-MY" sz="1100" dirty="0" err="1">
                <a:solidFill>
                  <a:schemeClr val="bg1"/>
                </a:solidFill>
              </a:rPr>
              <a:t>whatsapp</a:t>
            </a:r>
            <a:endParaRPr lang="en-MY" sz="1100" dirty="0">
              <a:solidFill>
                <a:schemeClr val="bg1"/>
              </a:solidFill>
            </a:endParaRPr>
          </a:p>
        </p:txBody>
      </p:sp>
    </p:spTree>
    <p:extLst>
      <p:ext uri="{BB962C8B-B14F-4D97-AF65-F5344CB8AC3E}">
        <p14:creationId xmlns:p14="http://schemas.microsoft.com/office/powerpoint/2010/main" val="188155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1+#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1+#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 presetClass="entr" presetSubtype="2"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additive="base">
                                        <p:cTn id="20" dur="500" fill="hold"/>
                                        <p:tgtEl>
                                          <p:spTgt spid="17"/>
                                        </p:tgtEl>
                                        <p:attrNameLst>
                                          <p:attrName>ppt_x</p:attrName>
                                        </p:attrNameLst>
                                      </p:cBhvr>
                                      <p:tavLst>
                                        <p:tav tm="0">
                                          <p:val>
                                            <p:strVal val="1+#ppt_w/2"/>
                                          </p:val>
                                        </p:tav>
                                        <p:tav tm="100000">
                                          <p:val>
                                            <p:strVal val="#ppt_x"/>
                                          </p:val>
                                        </p:tav>
                                      </p:tavLst>
                                    </p:anim>
                                    <p:anim calcmode="lin" valueType="num">
                                      <p:cBhvr additive="base">
                                        <p:cTn id="21"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A38FE03-F587-56A4-3E9C-C03D88FB5102}"/>
              </a:ext>
            </a:extLst>
          </p:cNvPr>
          <p:cNvSpPr txBox="1"/>
          <p:nvPr/>
        </p:nvSpPr>
        <p:spPr>
          <a:xfrm>
            <a:off x="5494467" y="774641"/>
            <a:ext cx="4070400" cy="938719"/>
          </a:xfrm>
          <a:prstGeom prst="rect">
            <a:avLst/>
          </a:prstGeom>
          <a:noFill/>
        </p:spPr>
        <p:txBody>
          <a:bodyPr wrap="square" lIns="0" rIns="0" rtlCol="0">
            <a:spAutoFit/>
          </a:bodyPr>
          <a:lstStyle/>
          <a:p>
            <a:r>
              <a:rPr lang="en-US" sz="1100" b="1" dirty="0">
                <a:ea typeface="Roboto Condensed Light" panose="02000000000000000000" pitchFamily="2" charset="0"/>
                <a:cs typeface="Roboto Condensed Light" panose="02000000000000000000" pitchFamily="2" charset="0"/>
              </a:rPr>
              <a:t>Vision and Goal Setting</a:t>
            </a:r>
          </a:p>
          <a:p>
            <a:pPr marL="171450" indent="-171450">
              <a:buFont typeface="Arial" panose="020B0604020202020204" pitchFamily="34" charset="0"/>
              <a:buChar char="•"/>
            </a:pPr>
            <a:r>
              <a:rPr lang="en-US" sz="1100" dirty="0">
                <a:ea typeface="Roboto Condensed Light" panose="02000000000000000000" pitchFamily="2" charset="0"/>
                <a:cs typeface="Roboto Condensed Light" panose="02000000000000000000" pitchFamily="2" charset="0"/>
              </a:rPr>
              <a:t>Ensured the team stayed aligned with the project's vision of creating an accessible mental health platform.</a:t>
            </a:r>
          </a:p>
          <a:p>
            <a:pPr marL="171450" indent="-171450">
              <a:buFont typeface="Arial" panose="020B0604020202020204" pitchFamily="34" charset="0"/>
              <a:buChar char="•"/>
            </a:pPr>
            <a:r>
              <a:rPr lang="en-US" sz="1100" dirty="0">
                <a:ea typeface="Roboto Condensed Light" panose="02000000000000000000" pitchFamily="2" charset="0"/>
                <a:cs typeface="Roboto Condensed Light" panose="02000000000000000000" pitchFamily="2" charset="0"/>
              </a:rPr>
              <a:t>Set clear and achievable goals for each sprint, motivating the team to deliver quality work consistently.</a:t>
            </a:r>
          </a:p>
        </p:txBody>
      </p:sp>
      <p:grpSp>
        <p:nvGrpSpPr>
          <p:cNvPr id="8" name="Group 7">
            <a:extLst>
              <a:ext uri="{FF2B5EF4-FFF2-40B4-BE49-F238E27FC236}">
                <a16:creationId xmlns:a16="http://schemas.microsoft.com/office/drawing/2014/main" id="{11DA01E1-3CA1-E6FA-4374-1361D132590B}"/>
              </a:ext>
            </a:extLst>
          </p:cNvPr>
          <p:cNvGrpSpPr/>
          <p:nvPr/>
        </p:nvGrpSpPr>
        <p:grpSpPr>
          <a:xfrm>
            <a:off x="5199209" y="804179"/>
            <a:ext cx="207464" cy="206152"/>
            <a:chOff x="2411760" y="3708613"/>
            <a:chExt cx="206152" cy="206152"/>
          </a:xfrm>
        </p:grpSpPr>
        <p:sp>
          <p:nvSpPr>
            <p:cNvPr id="9" name="Oval 8">
              <a:extLst>
                <a:ext uri="{FF2B5EF4-FFF2-40B4-BE49-F238E27FC236}">
                  <a16:creationId xmlns:a16="http://schemas.microsoft.com/office/drawing/2014/main" id="{6D0389F0-8C27-9A2D-D4EC-18ABA90060B9}"/>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sp>
          <p:nvSpPr>
            <p:cNvPr id="10" name="Chevron 91">
              <a:extLst>
                <a:ext uri="{FF2B5EF4-FFF2-40B4-BE49-F238E27FC236}">
                  <a16:creationId xmlns:a16="http://schemas.microsoft.com/office/drawing/2014/main" id="{BF5E7753-A127-6440-C3C1-00554A6DEC53}"/>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grpSp>
      <p:sp>
        <p:nvSpPr>
          <p:cNvPr id="11" name="TextBox 10">
            <a:extLst>
              <a:ext uri="{FF2B5EF4-FFF2-40B4-BE49-F238E27FC236}">
                <a16:creationId xmlns:a16="http://schemas.microsoft.com/office/drawing/2014/main" id="{2C3E5802-6A69-1F89-F45F-B1FE0EAD762B}"/>
              </a:ext>
            </a:extLst>
          </p:cNvPr>
          <p:cNvSpPr txBox="1"/>
          <p:nvPr/>
        </p:nvSpPr>
        <p:spPr>
          <a:xfrm>
            <a:off x="5494466" y="1935661"/>
            <a:ext cx="4070400" cy="600164"/>
          </a:xfrm>
          <a:prstGeom prst="rect">
            <a:avLst/>
          </a:prstGeom>
          <a:noFill/>
        </p:spPr>
        <p:txBody>
          <a:bodyPr wrap="square" lIns="0" rIns="0" rtlCol="0">
            <a:spAutoFit/>
          </a:bodyPr>
          <a:lstStyle/>
          <a:p>
            <a:r>
              <a:rPr lang="en-US" sz="1100" b="1" dirty="0">
                <a:ea typeface="Roboto Condensed Light" panose="02000000000000000000" pitchFamily="2" charset="0"/>
                <a:cs typeface="Roboto Condensed Light" panose="02000000000000000000" pitchFamily="2" charset="0"/>
              </a:rPr>
              <a:t>Adaptability</a:t>
            </a:r>
          </a:p>
          <a:p>
            <a:r>
              <a:rPr lang="en-US" sz="1100" dirty="0">
                <a:ea typeface="Roboto Condensed Light" panose="02000000000000000000" pitchFamily="2" charset="0"/>
                <a:cs typeface="Roboto Condensed Light" panose="02000000000000000000" pitchFamily="2" charset="0"/>
              </a:rPr>
              <a:t>Maintained flexibility in response to unexpected challenges, such as task delays or technical hurdles, while keeping the project on track.</a:t>
            </a:r>
          </a:p>
        </p:txBody>
      </p:sp>
      <p:grpSp>
        <p:nvGrpSpPr>
          <p:cNvPr id="12" name="Group 11">
            <a:extLst>
              <a:ext uri="{FF2B5EF4-FFF2-40B4-BE49-F238E27FC236}">
                <a16:creationId xmlns:a16="http://schemas.microsoft.com/office/drawing/2014/main" id="{C21EBC66-4420-B6B3-C526-004CF8BECB8D}"/>
              </a:ext>
            </a:extLst>
          </p:cNvPr>
          <p:cNvGrpSpPr/>
          <p:nvPr/>
        </p:nvGrpSpPr>
        <p:grpSpPr>
          <a:xfrm>
            <a:off x="5199209" y="1958605"/>
            <a:ext cx="207464" cy="206152"/>
            <a:chOff x="2411760" y="3708613"/>
            <a:chExt cx="206152" cy="206152"/>
          </a:xfrm>
        </p:grpSpPr>
        <p:sp>
          <p:nvSpPr>
            <p:cNvPr id="13" name="Oval 12">
              <a:extLst>
                <a:ext uri="{FF2B5EF4-FFF2-40B4-BE49-F238E27FC236}">
                  <a16:creationId xmlns:a16="http://schemas.microsoft.com/office/drawing/2014/main" id="{E547EECE-0518-E03F-DEA0-9E8AC17B448C}"/>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sp>
          <p:nvSpPr>
            <p:cNvPr id="14" name="Chevron 91">
              <a:extLst>
                <a:ext uri="{FF2B5EF4-FFF2-40B4-BE49-F238E27FC236}">
                  <a16:creationId xmlns:a16="http://schemas.microsoft.com/office/drawing/2014/main" id="{7AA8224C-234B-37B6-1235-AD91B6BC94AF}"/>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grpSp>
      <p:pic>
        <p:nvPicPr>
          <p:cNvPr id="2" name="Picture 1">
            <a:extLst>
              <a:ext uri="{FF2B5EF4-FFF2-40B4-BE49-F238E27FC236}">
                <a16:creationId xmlns:a16="http://schemas.microsoft.com/office/drawing/2014/main" id="{94CEB01F-0B0D-313F-7196-7E06D006F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4" name="Rectangle 3">
            <a:extLst>
              <a:ext uri="{FF2B5EF4-FFF2-40B4-BE49-F238E27FC236}">
                <a16:creationId xmlns:a16="http://schemas.microsoft.com/office/drawing/2014/main" id="{D9D27CE2-255A-4848-B267-B1334CF72C64}"/>
              </a:ext>
            </a:extLst>
          </p:cNvPr>
          <p:cNvSpPr/>
          <p:nvPr/>
        </p:nvSpPr>
        <p:spPr>
          <a:xfrm>
            <a:off x="416132" y="2136142"/>
            <a:ext cx="3310510" cy="1785104"/>
          </a:xfrm>
          <a:prstGeom prst="rect">
            <a:avLst/>
          </a:prstGeom>
        </p:spPr>
        <p:txBody>
          <a:bodyPr wrap="square">
            <a:spAutoFit/>
          </a:bodyPr>
          <a:lstStyle/>
          <a:p>
            <a:r>
              <a:rPr lang="en-MY" sz="5500" dirty="0">
                <a:solidFill>
                  <a:schemeClr val="bg1"/>
                </a:solidFill>
              </a:rPr>
              <a:t>Leadership Qualities</a:t>
            </a:r>
          </a:p>
        </p:txBody>
      </p:sp>
      <p:sp>
        <p:nvSpPr>
          <p:cNvPr id="21" name="TextBox 20">
            <a:extLst>
              <a:ext uri="{FF2B5EF4-FFF2-40B4-BE49-F238E27FC236}">
                <a16:creationId xmlns:a16="http://schemas.microsoft.com/office/drawing/2014/main" id="{9A87B3E7-0C06-4FC6-9A01-BBE179964AAB}"/>
              </a:ext>
            </a:extLst>
          </p:cNvPr>
          <p:cNvSpPr txBox="1"/>
          <p:nvPr/>
        </p:nvSpPr>
        <p:spPr>
          <a:xfrm>
            <a:off x="5494466" y="2772219"/>
            <a:ext cx="4070400" cy="938719"/>
          </a:xfrm>
          <a:prstGeom prst="rect">
            <a:avLst/>
          </a:prstGeom>
          <a:noFill/>
        </p:spPr>
        <p:txBody>
          <a:bodyPr wrap="square" lIns="0" rIns="0" rtlCol="0">
            <a:spAutoFit/>
          </a:bodyPr>
          <a:lstStyle/>
          <a:p>
            <a:r>
              <a:rPr lang="en-US" sz="1100" b="1" dirty="0">
                <a:ea typeface="Roboto Condensed Light" panose="02000000000000000000" pitchFamily="2" charset="0"/>
                <a:cs typeface="Roboto Condensed Light" panose="02000000000000000000" pitchFamily="2" charset="0"/>
              </a:rPr>
              <a:t>Empathy and Support</a:t>
            </a:r>
          </a:p>
          <a:p>
            <a:pPr marL="171450" indent="-171450">
              <a:buFont typeface="Arial" panose="020B0604020202020204" pitchFamily="34" charset="0"/>
              <a:buChar char="•"/>
            </a:pPr>
            <a:r>
              <a:rPr lang="en-US" sz="1100" dirty="0">
                <a:ea typeface="Roboto Condensed Light" panose="02000000000000000000" pitchFamily="2" charset="0"/>
                <a:cs typeface="Roboto Condensed Light" panose="02000000000000000000" pitchFamily="2" charset="0"/>
              </a:rPr>
              <a:t>Actively listened to team members' concerns and provided support when needed.</a:t>
            </a:r>
          </a:p>
          <a:p>
            <a:pPr marL="171450" indent="-171450">
              <a:buFont typeface="Arial" panose="020B0604020202020204" pitchFamily="34" charset="0"/>
              <a:buChar char="•"/>
            </a:pPr>
            <a:r>
              <a:rPr lang="en-US" sz="1100" dirty="0">
                <a:ea typeface="Roboto Condensed Light" panose="02000000000000000000" pitchFamily="2" charset="0"/>
                <a:cs typeface="Roboto Condensed Light" panose="02000000000000000000" pitchFamily="2" charset="0"/>
              </a:rPr>
              <a:t>Created a positive environment that encouraged open feedback and creative problem-solving.</a:t>
            </a:r>
          </a:p>
        </p:txBody>
      </p:sp>
      <p:grpSp>
        <p:nvGrpSpPr>
          <p:cNvPr id="22" name="Group 21">
            <a:extLst>
              <a:ext uri="{FF2B5EF4-FFF2-40B4-BE49-F238E27FC236}">
                <a16:creationId xmlns:a16="http://schemas.microsoft.com/office/drawing/2014/main" id="{2D947FA9-9B33-4BFF-8B23-987279CE3737}"/>
              </a:ext>
            </a:extLst>
          </p:cNvPr>
          <p:cNvGrpSpPr/>
          <p:nvPr/>
        </p:nvGrpSpPr>
        <p:grpSpPr>
          <a:xfrm>
            <a:off x="5199209" y="2795163"/>
            <a:ext cx="207464" cy="206152"/>
            <a:chOff x="2411760" y="3708613"/>
            <a:chExt cx="206152" cy="206152"/>
          </a:xfrm>
        </p:grpSpPr>
        <p:sp>
          <p:nvSpPr>
            <p:cNvPr id="23" name="Oval 22">
              <a:extLst>
                <a:ext uri="{FF2B5EF4-FFF2-40B4-BE49-F238E27FC236}">
                  <a16:creationId xmlns:a16="http://schemas.microsoft.com/office/drawing/2014/main" id="{86BB0A74-BCB2-4288-A4A8-36F7F2265D6E}"/>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sp>
          <p:nvSpPr>
            <p:cNvPr id="24" name="Chevron 91">
              <a:extLst>
                <a:ext uri="{FF2B5EF4-FFF2-40B4-BE49-F238E27FC236}">
                  <a16:creationId xmlns:a16="http://schemas.microsoft.com/office/drawing/2014/main" id="{6160845B-2526-4948-A3BF-A0A0F1E68B5C}"/>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grpSp>
      <p:sp>
        <p:nvSpPr>
          <p:cNvPr id="26" name="TextBox 25">
            <a:extLst>
              <a:ext uri="{FF2B5EF4-FFF2-40B4-BE49-F238E27FC236}">
                <a16:creationId xmlns:a16="http://schemas.microsoft.com/office/drawing/2014/main" id="{12962715-F1EB-4F0E-BA06-D48B58EF1BEC}"/>
              </a:ext>
            </a:extLst>
          </p:cNvPr>
          <p:cNvSpPr txBox="1"/>
          <p:nvPr/>
        </p:nvSpPr>
        <p:spPr>
          <a:xfrm>
            <a:off x="5494466" y="3895975"/>
            <a:ext cx="4070400" cy="938719"/>
          </a:xfrm>
          <a:prstGeom prst="rect">
            <a:avLst/>
          </a:prstGeom>
          <a:noFill/>
        </p:spPr>
        <p:txBody>
          <a:bodyPr wrap="square" lIns="0" rIns="0" rtlCol="0">
            <a:spAutoFit/>
          </a:bodyPr>
          <a:lstStyle/>
          <a:p>
            <a:r>
              <a:rPr lang="en-US" sz="1100" b="1" dirty="0">
                <a:ea typeface="Roboto Condensed Light" panose="02000000000000000000" pitchFamily="2" charset="0"/>
                <a:cs typeface="Roboto Condensed Light" panose="02000000000000000000" pitchFamily="2" charset="0"/>
              </a:rPr>
              <a:t>Accountability and Responsibility</a:t>
            </a:r>
          </a:p>
          <a:p>
            <a:pPr marL="171450" indent="-171450">
              <a:buFont typeface="Arial" panose="020B0604020202020204" pitchFamily="34" charset="0"/>
              <a:buChar char="•"/>
            </a:pPr>
            <a:r>
              <a:rPr lang="en-US" sz="1100" dirty="0">
                <a:ea typeface="Roboto Condensed Light" panose="02000000000000000000" pitchFamily="2" charset="0"/>
                <a:cs typeface="Roboto Condensed Light" panose="02000000000000000000" pitchFamily="2" charset="0"/>
              </a:rPr>
              <a:t>Took ownership of monitoring group progress and ensuring deadlines were met without compromising quality.</a:t>
            </a:r>
          </a:p>
          <a:p>
            <a:pPr marL="171450" indent="-171450">
              <a:buFont typeface="Arial" panose="020B0604020202020204" pitchFamily="34" charset="0"/>
              <a:buChar char="•"/>
            </a:pPr>
            <a:r>
              <a:rPr lang="en-US" sz="1100" dirty="0">
                <a:ea typeface="Roboto Condensed Light" panose="02000000000000000000" pitchFamily="2" charset="0"/>
                <a:cs typeface="Roboto Condensed Light" panose="02000000000000000000" pitchFamily="2" charset="0"/>
              </a:rPr>
              <a:t>Regularly updated the team on progress, fostering transparency and trust.</a:t>
            </a:r>
          </a:p>
        </p:txBody>
      </p:sp>
      <p:grpSp>
        <p:nvGrpSpPr>
          <p:cNvPr id="27" name="Group 26">
            <a:extLst>
              <a:ext uri="{FF2B5EF4-FFF2-40B4-BE49-F238E27FC236}">
                <a16:creationId xmlns:a16="http://schemas.microsoft.com/office/drawing/2014/main" id="{C822B749-9AE8-4E9A-A4C2-F67F80BF60E9}"/>
              </a:ext>
            </a:extLst>
          </p:cNvPr>
          <p:cNvGrpSpPr/>
          <p:nvPr/>
        </p:nvGrpSpPr>
        <p:grpSpPr>
          <a:xfrm>
            <a:off x="5199209" y="3918919"/>
            <a:ext cx="207464" cy="206152"/>
            <a:chOff x="2411760" y="3708613"/>
            <a:chExt cx="206152" cy="206152"/>
          </a:xfrm>
        </p:grpSpPr>
        <p:sp>
          <p:nvSpPr>
            <p:cNvPr id="28" name="Oval 27">
              <a:extLst>
                <a:ext uri="{FF2B5EF4-FFF2-40B4-BE49-F238E27FC236}">
                  <a16:creationId xmlns:a16="http://schemas.microsoft.com/office/drawing/2014/main" id="{876C7B02-B816-4B62-B5BB-5267C18C0DDE}"/>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sp>
          <p:nvSpPr>
            <p:cNvPr id="29" name="Chevron 91">
              <a:extLst>
                <a:ext uri="{FF2B5EF4-FFF2-40B4-BE49-F238E27FC236}">
                  <a16:creationId xmlns:a16="http://schemas.microsoft.com/office/drawing/2014/main" id="{B01B84CC-BC5C-4BB4-B011-3F6E60DF3C39}"/>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grpSp>
      <p:sp>
        <p:nvSpPr>
          <p:cNvPr id="30" name="TextBox 29">
            <a:extLst>
              <a:ext uri="{FF2B5EF4-FFF2-40B4-BE49-F238E27FC236}">
                <a16:creationId xmlns:a16="http://schemas.microsoft.com/office/drawing/2014/main" id="{C95BF2C2-72E1-42B8-96EC-7049148800E0}"/>
              </a:ext>
            </a:extLst>
          </p:cNvPr>
          <p:cNvSpPr txBox="1"/>
          <p:nvPr/>
        </p:nvSpPr>
        <p:spPr>
          <a:xfrm>
            <a:off x="5494466" y="4925132"/>
            <a:ext cx="4070400" cy="600164"/>
          </a:xfrm>
          <a:prstGeom prst="rect">
            <a:avLst/>
          </a:prstGeom>
          <a:noFill/>
        </p:spPr>
        <p:txBody>
          <a:bodyPr wrap="square" lIns="0" rIns="0" rtlCol="0">
            <a:spAutoFit/>
          </a:bodyPr>
          <a:lstStyle/>
          <a:p>
            <a:r>
              <a:rPr lang="en-US" sz="1100" b="1" dirty="0">
                <a:ea typeface="Roboto Condensed Light" panose="02000000000000000000" pitchFamily="2" charset="0"/>
                <a:cs typeface="Roboto Condensed Light" panose="02000000000000000000" pitchFamily="2" charset="0"/>
              </a:rPr>
              <a:t>Decision-Making</a:t>
            </a:r>
          </a:p>
          <a:p>
            <a:pPr marL="171450" indent="-171450">
              <a:buFont typeface="Arial" panose="020B0604020202020204" pitchFamily="34" charset="0"/>
              <a:buChar char="•"/>
            </a:pPr>
            <a:r>
              <a:rPr lang="en-US" sz="1100" dirty="0">
                <a:ea typeface="Roboto Condensed Light" panose="02000000000000000000" pitchFamily="2" charset="0"/>
                <a:cs typeface="Roboto Condensed Light" panose="02000000000000000000" pitchFamily="2" charset="0"/>
              </a:rPr>
              <a:t>Made informed decisions during critical moments, such as prioritizing tasks or resolving conflicting opinions within the team.</a:t>
            </a:r>
          </a:p>
        </p:txBody>
      </p:sp>
      <p:grpSp>
        <p:nvGrpSpPr>
          <p:cNvPr id="31" name="Group 30">
            <a:extLst>
              <a:ext uri="{FF2B5EF4-FFF2-40B4-BE49-F238E27FC236}">
                <a16:creationId xmlns:a16="http://schemas.microsoft.com/office/drawing/2014/main" id="{B287AC96-48EC-466A-BF58-D346C4E1680F}"/>
              </a:ext>
            </a:extLst>
          </p:cNvPr>
          <p:cNvGrpSpPr/>
          <p:nvPr/>
        </p:nvGrpSpPr>
        <p:grpSpPr>
          <a:xfrm>
            <a:off x="5199209" y="4948076"/>
            <a:ext cx="207464" cy="206152"/>
            <a:chOff x="2411760" y="3708613"/>
            <a:chExt cx="206152" cy="206152"/>
          </a:xfrm>
        </p:grpSpPr>
        <p:sp>
          <p:nvSpPr>
            <p:cNvPr id="32" name="Oval 31">
              <a:extLst>
                <a:ext uri="{FF2B5EF4-FFF2-40B4-BE49-F238E27FC236}">
                  <a16:creationId xmlns:a16="http://schemas.microsoft.com/office/drawing/2014/main" id="{81B45793-9E1A-4125-B131-7F88B45370B5}"/>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sp>
          <p:nvSpPr>
            <p:cNvPr id="33" name="Chevron 91">
              <a:extLst>
                <a:ext uri="{FF2B5EF4-FFF2-40B4-BE49-F238E27FC236}">
                  <a16:creationId xmlns:a16="http://schemas.microsoft.com/office/drawing/2014/main" id="{C76B4D7B-CF49-4059-BE9B-B1D0F7ECFCC7}"/>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grpSp>
    </p:spTree>
    <p:extLst>
      <p:ext uri="{BB962C8B-B14F-4D97-AF65-F5344CB8AC3E}">
        <p14:creationId xmlns:p14="http://schemas.microsoft.com/office/powerpoint/2010/main" val="1587843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26EEF-7A9F-2219-5482-DE11B3238F93}"/>
              </a:ext>
            </a:extLst>
          </p:cNvPr>
          <p:cNvSpPr>
            <a:spLocks noGrp="1"/>
          </p:cNvSpPr>
          <p:nvPr>
            <p:ph type="title"/>
          </p:nvPr>
        </p:nvSpPr>
        <p:spPr>
          <a:xfrm>
            <a:off x="838199" y="109179"/>
            <a:ext cx="10515600" cy="1325563"/>
          </a:xfrm>
        </p:spPr>
        <p:txBody>
          <a:bodyPr/>
          <a:lstStyle/>
          <a:p>
            <a:r>
              <a:rPr lang="en-US" dirty="0"/>
              <a:t>Evidences</a:t>
            </a:r>
          </a:p>
        </p:txBody>
      </p:sp>
      <p:pic>
        <p:nvPicPr>
          <p:cNvPr id="3" name="Picture 2">
            <a:extLst>
              <a:ext uri="{FF2B5EF4-FFF2-40B4-BE49-F238E27FC236}">
                <a16:creationId xmlns:a16="http://schemas.microsoft.com/office/drawing/2014/main" id="{29476D5B-6814-DA8C-1A68-44278C3177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4448" y="6560382"/>
            <a:ext cx="1943103" cy="146231"/>
          </a:xfrm>
          <a:prstGeom prst="rect">
            <a:avLst/>
          </a:prstGeom>
        </p:spPr>
      </p:pic>
      <p:pic>
        <p:nvPicPr>
          <p:cNvPr id="20" name="Picture 19">
            <a:extLst>
              <a:ext uri="{FF2B5EF4-FFF2-40B4-BE49-F238E27FC236}">
                <a16:creationId xmlns:a16="http://schemas.microsoft.com/office/drawing/2014/main" id="{E5DF525A-5B5D-4326-A831-398E615B46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458" y="4120053"/>
            <a:ext cx="5007990" cy="2513444"/>
          </a:xfrm>
          <a:prstGeom prst="rect">
            <a:avLst/>
          </a:prstGeom>
        </p:spPr>
      </p:pic>
      <p:sp>
        <p:nvSpPr>
          <p:cNvPr id="21" name="TextBox 20">
            <a:extLst>
              <a:ext uri="{FF2B5EF4-FFF2-40B4-BE49-F238E27FC236}">
                <a16:creationId xmlns:a16="http://schemas.microsoft.com/office/drawing/2014/main" id="{2D55E056-2013-4E25-BE09-184EB903CD39}"/>
              </a:ext>
            </a:extLst>
          </p:cNvPr>
          <p:cNvSpPr txBox="1"/>
          <p:nvPr/>
        </p:nvSpPr>
        <p:spPr>
          <a:xfrm>
            <a:off x="1324265" y="6633497"/>
            <a:ext cx="2592376" cy="261610"/>
          </a:xfrm>
          <a:prstGeom prst="rect">
            <a:avLst/>
          </a:prstGeom>
          <a:noFill/>
        </p:spPr>
        <p:txBody>
          <a:bodyPr wrap="none" rtlCol="0">
            <a:spAutoFit/>
          </a:bodyPr>
          <a:lstStyle/>
          <a:p>
            <a:r>
              <a:rPr lang="en-MY" sz="1100" dirty="0">
                <a:solidFill>
                  <a:schemeClr val="bg1"/>
                </a:solidFill>
              </a:rPr>
              <a:t>Picture 4 : e-learning submit work on time</a:t>
            </a:r>
          </a:p>
        </p:txBody>
      </p:sp>
      <p:pic>
        <p:nvPicPr>
          <p:cNvPr id="23" name="Picture 22">
            <a:extLst>
              <a:ext uri="{FF2B5EF4-FFF2-40B4-BE49-F238E27FC236}">
                <a16:creationId xmlns:a16="http://schemas.microsoft.com/office/drawing/2014/main" id="{D35C60CC-2FF4-418B-9510-E19D4E729086}"/>
              </a:ext>
            </a:extLst>
          </p:cNvPr>
          <p:cNvPicPr>
            <a:picLocks noChangeAspect="1"/>
          </p:cNvPicPr>
          <p:nvPr/>
        </p:nvPicPr>
        <p:blipFill rotWithShape="1">
          <a:blip r:embed="rId4">
            <a:extLst>
              <a:ext uri="{28A0092B-C50C-407E-A947-70E740481C1C}">
                <a14:useLocalDpi xmlns:a14="http://schemas.microsoft.com/office/drawing/2010/main" val="0"/>
              </a:ext>
            </a:extLst>
          </a:blip>
          <a:srcRect t="5324"/>
          <a:stretch/>
        </p:blipFill>
        <p:spPr>
          <a:xfrm>
            <a:off x="9975556" y="1690688"/>
            <a:ext cx="1870241" cy="3834949"/>
          </a:xfrm>
          <a:prstGeom prst="rect">
            <a:avLst/>
          </a:prstGeom>
        </p:spPr>
      </p:pic>
      <p:pic>
        <p:nvPicPr>
          <p:cNvPr id="25" name="Picture 24">
            <a:extLst>
              <a:ext uri="{FF2B5EF4-FFF2-40B4-BE49-F238E27FC236}">
                <a16:creationId xmlns:a16="http://schemas.microsoft.com/office/drawing/2014/main" id="{5CDCE57E-3B33-4B61-9FF6-2F33D99FBC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2002" y="1291353"/>
            <a:ext cx="4656902" cy="2316809"/>
          </a:xfrm>
          <a:prstGeom prst="rect">
            <a:avLst/>
          </a:prstGeom>
        </p:spPr>
      </p:pic>
      <p:pic>
        <p:nvPicPr>
          <p:cNvPr id="29" name="Picture 28">
            <a:extLst>
              <a:ext uri="{FF2B5EF4-FFF2-40B4-BE49-F238E27FC236}">
                <a16:creationId xmlns:a16="http://schemas.microsoft.com/office/drawing/2014/main" id="{191C7F7A-BD52-441A-BC3C-214D6BAF155E}"/>
              </a:ext>
            </a:extLst>
          </p:cNvPr>
          <p:cNvPicPr>
            <a:picLocks noChangeAspect="1"/>
          </p:cNvPicPr>
          <p:nvPr/>
        </p:nvPicPr>
        <p:blipFill rotWithShape="1">
          <a:blip r:embed="rId6">
            <a:extLst>
              <a:ext uri="{28A0092B-C50C-407E-A947-70E740481C1C}">
                <a14:useLocalDpi xmlns:a14="http://schemas.microsoft.com/office/drawing/2010/main" val="0"/>
              </a:ext>
            </a:extLst>
          </a:blip>
          <a:srcRect t="5122"/>
          <a:stretch/>
        </p:blipFill>
        <p:spPr>
          <a:xfrm>
            <a:off x="7942219" y="2927339"/>
            <a:ext cx="1870242" cy="3843127"/>
          </a:xfrm>
          <a:prstGeom prst="rect">
            <a:avLst/>
          </a:prstGeom>
        </p:spPr>
      </p:pic>
      <p:pic>
        <p:nvPicPr>
          <p:cNvPr id="31" name="Picture 30">
            <a:extLst>
              <a:ext uri="{FF2B5EF4-FFF2-40B4-BE49-F238E27FC236}">
                <a16:creationId xmlns:a16="http://schemas.microsoft.com/office/drawing/2014/main" id="{BA23E2EB-DE87-4EB3-8A3B-0C6FBF6DDB9D}"/>
              </a:ext>
            </a:extLst>
          </p:cNvPr>
          <p:cNvPicPr>
            <a:picLocks noChangeAspect="1"/>
          </p:cNvPicPr>
          <p:nvPr/>
        </p:nvPicPr>
        <p:blipFill rotWithShape="1">
          <a:blip r:embed="rId7">
            <a:extLst>
              <a:ext uri="{28A0092B-C50C-407E-A947-70E740481C1C}">
                <a14:useLocalDpi xmlns:a14="http://schemas.microsoft.com/office/drawing/2010/main" val="0"/>
              </a:ext>
            </a:extLst>
          </a:blip>
          <a:srcRect t="5409"/>
          <a:stretch/>
        </p:blipFill>
        <p:spPr>
          <a:xfrm>
            <a:off x="5606988" y="1821084"/>
            <a:ext cx="1744624" cy="3574156"/>
          </a:xfrm>
          <a:prstGeom prst="rect">
            <a:avLst/>
          </a:prstGeom>
        </p:spPr>
      </p:pic>
      <p:sp>
        <p:nvSpPr>
          <p:cNvPr id="32" name="TextBox 31">
            <a:extLst>
              <a:ext uri="{FF2B5EF4-FFF2-40B4-BE49-F238E27FC236}">
                <a16:creationId xmlns:a16="http://schemas.microsoft.com/office/drawing/2014/main" id="{88C365A1-B87A-4DAA-9B38-6D79AFCDEF2B}"/>
              </a:ext>
            </a:extLst>
          </p:cNvPr>
          <p:cNvSpPr txBox="1"/>
          <p:nvPr/>
        </p:nvSpPr>
        <p:spPr>
          <a:xfrm>
            <a:off x="855386" y="3608162"/>
            <a:ext cx="3514104" cy="261610"/>
          </a:xfrm>
          <a:prstGeom prst="rect">
            <a:avLst/>
          </a:prstGeom>
          <a:noFill/>
        </p:spPr>
        <p:txBody>
          <a:bodyPr wrap="none" rtlCol="0">
            <a:spAutoFit/>
          </a:bodyPr>
          <a:lstStyle/>
          <a:p>
            <a:r>
              <a:rPr lang="en-MY" sz="1100" dirty="0">
                <a:solidFill>
                  <a:schemeClr val="bg1"/>
                </a:solidFill>
              </a:rPr>
              <a:t>Picture 3 : discuss for draft of class diagram for the system</a:t>
            </a:r>
          </a:p>
        </p:txBody>
      </p:sp>
      <p:sp>
        <p:nvSpPr>
          <p:cNvPr id="33" name="TextBox 32">
            <a:extLst>
              <a:ext uri="{FF2B5EF4-FFF2-40B4-BE49-F238E27FC236}">
                <a16:creationId xmlns:a16="http://schemas.microsoft.com/office/drawing/2014/main" id="{684C9265-00F6-48F9-B577-25564BF31C88}"/>
              </a:ext>
            </a:extLst>
          </p:cNvPr>
          <p:cNvSpPr txBox="1"/>
          <p:nvPr/>
        </p:nvSpPr>
        <p:spPr>
          <a:xfrm>
            <a:off x="5465182" y="5395240"/>
            <a:ext cx="2028235" cy="261610"/>
          </a:xfrm>
          <a:prstGeom prst="rect">
            <a:avLst/>
          </a:prstGeom>
          <a:noFill/>
        </p:spPr>
        <p:txBody>
          <a:bodyPr wrap="square" rtlCol="0">
            <a:spAutoFit/>
          </a:bodyPr>
          <a:lstStyle/>
          <a:p>
            <a:r>
              <a:rPr lang="en-MY" sz="1100" dirty="0">
                <a:solidFill>
                  <a:schemeClr val="bg1"/>
                </a:solidFill>
              </a:rPr>
              <a:t>Picture 5 : discuss using discord</a:t>
            </a:r>
          </a:p>
        </p:txBody>
      </p:sp>
      <p:sp>
        <p:nvSpPr>
          <p:cNvPr id="34" name="TextBox 33">
            <a:extLst>
              <a:ext uri="{FF2B5EF4-FFF2-40B4-BE49-F238E27FC236}">
                <a16:creationId xmlns:a16="http://schemas.microsoft.com/office/drawing/2014/main" id="{4E687A18-8168-4CA5-BC66-AA3E0A83C4FC}"/>
              </a:ext>
            </a:extLst>
          </p:cNvPr>
          <p:cNvSpPr txBox="1"/>
          <p:nvPr/>
        </p:nvSpPr>
        <p:spPr>
          <a:xfrm>
            <a:off x="7942219" y="2141416"/>
            <a:ext cx="2028235" cy="430887"/>
          </a:xfrm>
          <a:prstGeom prst="rect">
            <a:avLst/>
          </a:prstGeom>
          <a:noFill/>
        </p:spPr>
        <p:txBody>
          <a:bodyPr wrap="square" rtlCol="0">
            <a:spAutoFit/>
          </a:bodyPr>
          <a:lstStyle/>
          <a:p>
            <a:r>
              <a:rPr lang="en-MY" sz="1100" dirty="0">
                <a:solidFill>
                  <a:schemeClr val="bg1"/>
                </a:solidFill>
              </a:rPr>
              <a:t>Picture 6 &amp; 7 : discuss using </a:t>
            </a:r>
            <a:r>
              <a:rPr lang="en-MY" sz="1100" dirty="0" err="1">
                <a:solidFill>
                  <a:schemeClr val="bg1"/>
                </a:solidFill>
              </a:rPr>
              <a:t>whatsapp</a:t>
            </a:r>
            <a:endParaRPr lang="en-MY" sz="1100" dirty="0">
              <a:solidFill>
                <a:schemeClr val="bg1"/>
              </a:solidFill>
            </a:endParaRPr>
          </a:p>
        </p:txBody>
      </p:sp>
    </p:spTree>
    <p:extLst>
      <p:ext uri="{BB962C8B-B14F-4D97-AF65-F5344CB8AC3E}">
        <p14:creationId xmlns:p14="http://schemas.microsoft.com/office/powerpoint/2010/main" val="2578053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BB2455D-AE75-EA38-5C56-F23CA53C44C4}"/>
              </a:ext>
            </a:extLst>
          </p:cNvPr>
          <p:cNvSpPr txBox="1"/>
          <p:nvPr/>
        </p:nvSpPr>
        <p:spPr>
          <a:xfrm>
            <a:off x="2020612" y="3210792"/>
            <a:ext cx="8043862" cy="1600438"/>
          </a:xfrm>
          <a:prstGeom prst="rect">
            <a:avLst/>
          </a:prstGeom>
          <a:noFill/>
        </p:spPr>
        <p:txBody>
          <a:bodyPr wrap="square" anchor="ctr">
            <a:spAutoFit/>
          </a:bodyPr>
          <a:lstStyle/>
          <a:p>
            <a:pPr algn="ctr">
              <a:spcBef>
                <a:spcPts val="800"/>
              </a:spcBef>
              <a:defRPr/>
            </a:pPr>
            <a:r>
              <a:rPr lang="en-US" sz="1400" dirty="0">
                <a:solidFill>
                  <a:schemeClr val="bg1"/>
                </a:solidFill>
                <a:latin typeface="+mj-lt"/>
                <a:cs typeface="Lato" panose="020F0502020204030203" pitchFamily="34" charset="0"/>
              </a:rPr>
              <a:t>This project has been a fantastic learning journey for me, not just in terms of leadership but also in understanding the practical aspects of software engineering. I developed skills in communication, problem-solving, and team coordination, which were crucial to keeping everything on track. The Software Engineering course introduced me to Agile methodologies, like sprint planning and iterative development, which made managing the project more organized and flexible. I also learned how important it is to focus on user needs and work collaboratively with a team. This experience has shown me how rewarding it is to see a project come to life and has prepared me to take on future challenges with confidence and adaptability.</a:t>
            </a:r>
            <a:endParaRPr lang="ru-RU" sz="1400" b="1" dirty="0">
              <a:solidFill>
                <a:schemeClr val="bg1"/>
              </a:solidFill>
              <a:latin typeface="+mj-lt"/>
              <a:cs typeface="Lato" panose="020F0502020204030203" pitchFamily="34" charset="0"/>
            </a:endParaRPr>
          </a:p>
        </p:txBody>
      </p:sp>
      <p:sp>
        <p:nvSpPr>
          <p:cNvPr id="14" name="TextBox 13">
            <a:extLst>
              <a:ext uri="{FF2B5EF4-FFF2-40B4-BE49-F238E27FC236}">
                <a16:creationId xmlns:a16="http://schemas.microsoft.com/office/drawing/2014/main" id="{C43F20A1-47A2-D5E9-FB82-E28FCF3DF552}"/>
              </a:ext>
            </a:extLst>
          </p:cNvPr>
          <p:cNvSpPr txBox="1"/>
          <p:nvPr/>
        </p:nvSpPr>
        <p:spPr>
          <a:xfrm>
            <a:off x="991913" y="1879704"/>
            <a:ext cx="9915524" cy="854080"/>
          </a:xfrm>
          <a:prstGeom prst="rect">
            <a:avLst/>
          </a:prstGeom>
          <a:noFill/>
        </p:spPr>
        <p:txBody>
          <a:bodyPr wrap="square" anchor="ctr">
            <a:spAutoFit/>
          </a:bodyPr>
          <a:lstStyle/>
          <a:p>
            <a:pPr algn="ctr" eaLnBrk="1" fontAlgn="auto" hangingPunct="1">
              <a:lnSpc>
                <a:spcPct val="150000"/>
              </a:lnSpc>
              <a:spcBef>
                <a:spcPts val="800"/>
              </a:spcBef>
              <a:spcAft>
                <a:spcPts val="0"/>
              </a:spcAft>
              <a:defRPr/>
            </a:pPr>
            <a:r>
              <a:rPr lang="en-MY" sz="3600" dirty="0">
                <a:solidFill>
                  <a:schemeClr val="bg1"/>
                </a:solidFill>
                <a:latin typeface="+mj-lt"/>
                <a:cs typeface="Lato" panose="020F0502020204030203" pitchFamily="34" charset="0"/>
              </a:rPr>
              <a:t>Conclusion</a:t>
            </a:r>
            <a:endParaRPr lang="ru-RU" sz="3600" b="1" dirty="0">
              <a:solidFill>
                <a:schemeClr val="bg1"/>
              </a:solidFill>
              <a:latin typeface="+mj-lt"/>
              <a:cs typeface="Lato" panose="020F0502020204030203" pitchFamily="34" charset="0"/>
            </a:endParaRPr>
          </a:p>
        </p:txBody>
      </p:sp>
      <p:sp>
        <p:nvSpPr>
          <p:cNvPr id="15" name="TextBox 14">
            <a:extLst>
              <a:ext uri="{FF2B5EF4-FFF2-40B4-BE49-F238E27FC236}">
                <a16:creationId xmlns:a16="http://schemas.microsoft.com/office/drawing/2014/main" id="{23AE019B-A178-2FE5-A62B-F6BAC1E73D67}"/>
              </a:ext>
            </a:extLst>
          </p:cNvPr>
          <p:cNvSpPr txBox="1"/>
          <p:nvPr/>
        </p:nvSpPr>
        <p:spPr>
          <a:xfrm>
            <a:off x="1415360" y="2636776"/>
            <a:ext cx="793929" cy="1582549"/>
          </a:xfrm>
          <a:prstGeom prst="rect">
            <a:avLst/>
          </a:prstGeom>
          <a:noFill/>
        </p:spPr>
        <p:txBody>
          <a:bodyPr wrap="square" anchor="ctr">
            <a:spAutoFit/>
          </a:bodyPr>
          <a:lstStyle/>
          <a:p>
            <a:pPr algn="ctr" eaLnBrk="1" fontAlgn="auto" hangingPunct="1">
              <a:lnSpc>
                <a:spcPct val="150000"/>
              </a:lnSpc>
              <a:spcBef>
                <a:spcPts val="800"/>
              </a:spcBef>
              <a:spcAft>
                <a:spcPts val="0"/>
              </a:spcAft>
              <a:defRPr/>
            </a:pPr>
            <a:r>
              <a:rPr lang="en-MY" sz="7200" dirty="0">
                <a:solidFill>
                  <a:schemeClr val="bg1"/>
                </a:solidFill>
                <a:latin typeface="Antonio" panose="02000803000000000000" pitchFamily="2" charset="0"/>
                <a:ea typeface="Lato" panose="020F0502020204030203" pitchFamily="34" charset="0"/>
                <a:cs typeface="Lato" panose="020F0502020204030203" pitchFamily="34" charset="0"/>
              </a:rPr>
              <a:t>“</a:t>
            </a:r>
            <a:endParaRPr lang="ru-RU" sz="72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6" name="TextBox 15">
            <a:extLst>
              <a:ext uri="{FF2B5EF4-FFF2-40B4-BE49-F238E27FC236}">
                <a16:creationId xmlns:a16="http://schemas.microsoft.com/office/drawing/2014/main" id="{BC474A02-B74F-9F9F-D2AF-E3091E278524}"/>
              </a:ext>
            </a:extLst>
          </p:cNvPr>
          <p:cNvSpPr txBox="1"/>
          <p:nvPr/>
        </p:nvSpPr>
        <p:spPr>
          <a:xfrm rot="10800000">
            <a:off x="9875797" y="3705688"/>
            <a:ext cx="793929" cy="1582549"/>
          </a:xfrm>
          <a:prstGeom prst="rect">
            <a:avLst/>
          </a:prstGeom>
          <a:noFill/>
        </p:spPr>
        <p:txBody>
          <a:bodyPr wrap="square" anchor="ctr">
            <a:spAutoFit/>
          </a:bodyPr>
          <a:lstStyle/>
          <a:p>
            <a:pPr algn="ctr" eaLnBrk="1" fontAlgn="auto" hangingPunct="1">
              <a:lnSpc>
                <a:spcPct val="150000"/>
              </a:lnSpc>
              <a:spcBef>
                <a:spcPts val="800"/>
              </a:spcBef>
              <a:spcAft>
                <a:spcPts val="0"/>
              </a:spcAft>
              <a:defRPr/>
            </a:pPr>
            <a:r>
              <a:rPr lang="en-MY" sz="7200" dirty="0">
                <a:solidFill>
                  <a:schemeClr val="bg1"/>
                </a:solidFill>
                <a:latin typeface="Antonio" panose="02000803000000000000" pitchFamily="2" charset="0"/>
                <a:ea typeface="Lato" panose="020F0502020204030203" pitchFamily="34" charset="0"/>
                <a:cs typeface="Lato" panose="020F0502020204030203" pitchFamily="34" charset="0"/>
              </a:rPr>
              <a:t>“</a:t>
            </a:r>
            <a:endParaRPr lang="ru-RU" sz="72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pic>
        <p:nvPicPr>
          <p:cNvPr id="4" name="Picture 3">
            <a:extLst>
              <a:ext uri="{FF2B5EF4-FFF2-40B4-BE49-F238E27FC236}">
                <a16:creationId xmlns:a16="http://schemas.microsoft.com/office/drawing/2014/main" id="{F14A7D32-F2CA-B8B0-10CC-7CA4D5D5DA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4448" y="6560382"/>
            <a:ext cx="1943103" cy="146231"/>
          </a:xfrm>
          <a:prstGeom prst="rect">
            <a:avLst/>
          </a:prstGeom>
        </p:spPr>
      </p:pic>
    </p:spTree>
    <p:extLst>
      <p:ext uri="{BB962C8B-B14F-4D97-AF65-F5344CB8AC3E}">
        <p14:creationId xmlns:p14="http://schemas.microsoft.com/office/powerpoint/2010/main" val="60818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4820F6-6C26-1EBF-5C42-FA03DE41E161}"/>
              </a:ext>
            </a:extLst>
          </p:cNvPr>
          <p:cNvSpPr txBox="1"/>
          <p:nvPr/>
        </p:nvSpPr>
        <p:spPr bwMode="auto">
          <a:xfrm>
            <a:off x="3647115" y="2649752"/>
            <a:ext cx="4706938" cy="1015663"/>
          </a:xfrm>
          <a:prstGeom prst="rect">
            <a:avLst/>
          </a:prstGeom>
          <a:noFill/>
        </p:spPr>
        <p:txBody>
          <a:bodyPr anchor="ctr">
            <a:spAutoFit/>
          </a:bodyPr>
          <a:lstStyle/>
          <a:p>
            <a:pPr algn="ctr" eaLnBrk="1" fontAlgn="auto" hangingPunct="1">
              <a:spcBef>
                <a:spcPts val="0"/>
              </a:spcBef>
              <a:spcAft>
                <a:spcPts val="0"/>
              </a:spcAft>
              <a:defRPr/>
            </a:pPr>
            <a:r>
              <a:rPr lang="en-US" sz="6000" b="1" dirty="0">
                <a:solidFill>
                  <a:schemeClr val="bg1"/>
                </a:solidFill>
                <a:cs typeface="Arial" panose="020B0604020202020204" pitchFamily="34" charset="0"/>
              </a:rPr>
              <a:t>THANK YOU</a:t>
            </a:r>
          </a:p>
        </p:txBody>
      </p:sp>
      <p:sp>
        <p:nvSpPr>
          <p:cNvPr id="16" name="TextBox 15">
            <a:extLst>
              <a:ext uri="{FF2B5EF4-FFF2-40B4-BE49-F238E27FC236}">
                <a16:creationId xmlns:a16="http://schemas.microsoft.com/office/drawing/2014/main" id="{ADC1C89C-415D-8541-332A-2F542D81F044}"/>
              </a:ext>
            </a:extLst>
          </p:cNvPr>
          <p:cNvSpPr txBox="1"/>
          <p:nvPr/>
        </p:nvSpPr>
        <p:spPr>
          <a:xfrm>
            <a:off x="4434467" y="4076956"/>
            <a:ext cx="1661533" cy="276999"/>
          </a:xfrm>
          <a:prstGeom prst="rect">
            <a:avLst/>
          </a:prstGeom>
          <a:noFill/>
        </p:spPr>
        <p:txBody>
          <a:bodyPr wrap="square" rtlCol="0">
            <a:spAutoFit/>
          </a:bodyPr>
          <a:lstStyle/>
          <a:p>
            <a:r>
              <a:rPr lang="en-MY" sz="1200" dirty="0">
                <a:solidFill>
                  <a:schemeClr val="bg1"/>
                </a:solidFill>
              </a:rPr>
              <a:t>univteknologimalaysia</a:t>
            </a:r>
          </a:p>
        </p:txBody>
      </p:sp>
      <p:grpSp>
        <p:nvGrpSpPr>
          <p:cNvPr id="17" name="Group 16">
            <a:extLst>
              <a:ext uri="{FF2B5EF4-FFF2-40B4-BE49-F238E27FC236}">
                <a16:creationId xmlns:a16="http://schemas.microsoft.com/office/drawing/2014/main" id="{7136870D-2DAD-C7DB-DE9D-5E9D14D472AB}"/>
              </a:ext>
            </a:extLst>
          </p:cNvPr>
          <p:cNvGrpSpPr/>
          <p:nvPr/>
        </p:nvGrpSpPr>
        <p:grpSpPr>
          <a:xfrm>
            <a:off x="3366240" y="4067101"/>
            <a:ext cx="280228" cy="281958"/>
            <a:chOff x="2163763" y="-1266825"/>
            <a:chExt cx="1028700" cy="1035050"/>
          </a:xfrm>
          <a:solidFill>
            <a:schemeClr val="bg1">
              <a:lumMod val="95000"/>
            </a:schemeClr>
          </a:solidFill>
        </p:grpSpPr>
        <p:sp>
          <p:nvSpPr>
            <p:cNvPr id="18" name="Freeform 5">
              <a:extLst>
                <a:ext uri="{FF2B5EF4-FFF2-40B4-BE49-F238E27FC236}">
                  <a16:creationId xmlns:a16="http://schemas.microsoft.com/office/drawing/2014/main" id="{9CA6BC94-EC3A-003F-BBFA-332A294D5FB2}"/>
                </a:ext>
              </a:extLst>
            </p:cNvPr>
            <p:cNvSpPr>
              <a:spLocks noEditPoints="1"/>
            </p:cNvSpPr>
            <p:nvPr/>
          </p:nvSpPr>
          <p:spPr bwMode="auto">
            <a:xfrm>
              <a:off x="2163763"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ED93D63C-4E6A-702C-8FFD-729BB391A998}"/>
                </a:ext>
              </a:extLst>
            </p:cNvPr>
            <p:cNvSpPr>
              <a:spLocks/>
            </p:cNvSpPr>
            <p:nvPr/>
          </p:nvSpPr>
          <p:spPr bwMode="auto">
            <a:xfrm>
              <a:off x="2554288" y="-1014413"/>
              <a:ext cx="246063" cy="528638"/>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 name="Group 19">
            <a:extLst>
              <a:ext uri="{FF2B5EF4-FFF2-40B4-BE49-F238E27FC236}">
                <a16:creationId xmlns:a16="http://schemas.microsoft.com/office/drawing/2014/main" id="{309B19F7-B624-3ABA-C567-5166FD20AAE7}"/>
              </a:ext>
            </a:extLst>
          </p:cNvPr>
          <p:cNvGrpSpPr/>
          <p:nvPr/>
        </p:nvGrpSpPr>
        <p:grpSpPr>
          <a:xfrm>
            <a:off x="7531144" y="4077067"/>
            <a:ext cx="279796" cy="281958"/>
            <a:chOff x="3470276" y="-1266825"/>
            <a:chExt cx="1027113" cy="1035050"/>
          </a:xfrm>
          <a:solidFill>
            <a:schemeClr val="bg1">
              <a:lumMod val="95000"/>
            </a:schemeClr>
          </a:solidFill>
        </p:grpSpPr>
        <p:sp>
          <p:nvSpPr>
            <p:cNvPr id="21" name="Freeform 6">
              <a:extLst>
                <a:ext uri="{FF2B5EF4-FFF2-40B4-BE49-F238E27FC236}">
                  <a16:creationId xmlns:a16="http://schemas.microsoft.com/office/drawing/2014/main" id="{1D2869D3-FA80-AF09-B200-6780D06BD571}"/>
                </a:ext>
              </a:extLst>
            </p:cNvPr>
            <p:cNvSpPr>
              <a:spLocks noEditPoints="1"/>
            </p:cNvSpPr>
            <p:nvPr/>
          </p:nvSpPr>
          <p:spPr bwMode="auto">
            <a:xfrm>
              <a:off x="3470276" y="-1266825"/>
              <a:ext cx="1027113"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8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8 w 396"/>
                <a:gd name="T31" fmla="*/ 327 h 396"/>
                <a:gd name="T32" fmla="*/ 381 w 396"/>
                <a:gd name="T33" fmla="*/ 198 h 396"/>
                <a:gd name="T34" fmla="*/ 328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D2E0A07B-CE26-AFAB-9272-1F467B6A0A9B}"/>
                </a:ext>
              </a:extLst>
            </p:cNvPr>
            <p:cNvSpPr>
              <a:spLocks noEditPoints="1"/>
            </p:cNvSpPr>
            <p:nvPr/>
          </p:nvSpPr>
          <p:spPr bwMode="auto">
            <a:xfrm>
              <a:off x="3727451" y="-1011238"/>
              <a:ext cx="515938" cy="520700"/>
            </a:xfrm>
            <a:custGeom>
              <a:avLst/>
              <a:gdLst>
                <a:gd name="T0" fmla="*/ 49 w 199"/>
                <a:gd name="T1" fmla="*/ 100 h 199"/>
                <a:gd name="T2" fmla="*/ 99 w 199"/>
                <a:gd name="T3" fmla="*/ 49 h 199"/>
                <a:gd name="T4" fmla="*/ 150 w 199"/>
                <a:gd name="T5" fmla="*/ 100 h 199"/>
                <a:gd name="T6" fmla="*/ 99 w 199"/>
                <a:gd name="T7" fmla="*/ 150 h 199"/>
                <a:gd name="T8" fmla="*/ 49 w 199"/>
                <a:gd name="T9" fmla="*/ 100 h 199"/>
                <a:gd name="T10" fmla="*/ 152 w 199"/>
                <a:gd name="T11" fmla="*/ 0 h 199"/>
                <a:gd name="T12" fmla="*/ 47 w 199"/>
                <a:gd name="T13" fmla="*/ 0 h 199"/>
                <a:gd name="T14" fmla="*/ 0 w 199"/>
                <a:gd name="T15" fmla="*/ 47 h 199"/>
                <a:gd name="T16" fmla="*/ 0 w 199"/>
                <a:gd name="T17" fmla="*/ 152 h 199"/>
                <a:gd name="T18" fmla="*/ 47 w 199"/>
                <a:gd name="T19" fmla="*/ 199 h 199"/>
                <a:gd name="T20" fmla="*/ 152 w 199"/>
                <a:gd name="T21" fmla="*/ 199 h 199"/>
                <a:gd name="T22" fmla="*/ 199 w 199"/>
                <a:gd name="T23" fmla="*/ 152 h 199"/>
                <a:gd name="T24" fmla="*/ 199 w 199"/>
                <a:gd name="T25" fmla="*/ 47 h 199"/>
                <a:gd name="T26" fmla="*/ 152 w 199"/>
                <a:gd name="T27" fmla="*/ 0 h 199"/>
                <a:gd name="T28" fmla="*/ 47 w 199"/>
                <a:gd name="T29" fmla="*/ 12 h 199"/>
                <a:gd name="T30" fmla="*/ 152 w 199"/>
                <a:gd name="T31" fmla="*/ 12 h 199"/>
                <a:gd name="T32" fmla="*/ 187 w 199"/>
                <a:gd name="T33" fmla="*/ 47 h 199"/>
                <a:gd name="T34" fmla="*/ 187 w 199"/>
                <a:gd name="T35" fmla="*/ 152 h 199"/>
                <a:gd name="T36" fmla="*/ 152 w 199"/>
                <a:gd name="T37" fmla="*/ 187 h 199"/>
                <a:gd name="T38" fmla="*/ 47 w 199"/>
                <a:gd name="T39" fmla="*/ 187 h 199"/>
                <a:gd name="T40" fmla="*/ 12 w 199"/>
                <a:gd name="T41" fmla="*/ 152 h 199"/>
                <a:gd name="T42" fmla="*/ 12 w 199"/>
                <a:gd name="T43" fmla="*/ 47 h 199"/>
                <a:gd name="T44" fmla="*/ 47 w 199"/>
                <a:gd name="T45" fmla="*/ 12 h 199"/>
                <a:gd name="T46" fmla="*/ 162 w 199"/>
                <a:gd name="T47" fmla="*/ 27 h 199"/>
                <a:gd name="T48" fmla="*/ 152 w 199"/>
                <a:gd name="T49" fmla="*/ 37 h 199"/>
                <a:gd name="T50" fmla="*/ 162 w 199"/>
                <a:gd name="T51" fmla="*/ 48 h 199"/>
                <a:gd name="T52" fmla="*/ 173 w 199"/>
                <a:gd name="T53" fmla="*/ 37 h 199"/>
                <a:gd name="T54" fmla="*/ 162 w 199"/>
                <a:gd name="T55" fmla="*/ 27 h 199"/>
                <a:gd name="T56" fmla="*/ 163 w 199"/>
                <a:gd name="T57" fmla="*/ 100 h 199"/>
                <a:gd name="T58" fmla="*/ 99 w 199"/>
                <a:gd name="T59" fmla="*/ 36 h 199"/>
                <a:gd name="T60" fmla="*/ 35 w 199"/>
                <a:gd name="T61" fmla="*/ 100 h 199"/>
                <a:gd name="T62" fmla="*/ 99 w 199"/>
                <a:gd name="T63" fmla="*/ 164 h 199"/>
                <a:gd name="T64" fmla="*/ 163 w 199"/>
                <a:gd name="T65" fmla="*/ 10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9" h="199">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a:extLst>
              <a:ext uri="{FF2B5EF4-FFF2-40B4-BE49-F238E27FC236}">
                <a16:creationId xmlns:a16="http://schemas.microsoft.com/office/drawing/2014/main" id="{601DB2CC-6680-AB58-44EA-DF265753FC9C}"/>
              </a:ext>
            </a:extLst>
          </p:cNvPr>
          <p:cNvSpPr txBox="1"/>
          <p:nvPr/>
        </p:nvSpPr>
        <p:spPr>
          <a:xfrm>
            <a:off x="6711844" y="4072060"/>
            <a:ext cx="3029941" cy="276999"/>
          </a:xfrm>
          <a:prstGeom prst="rect">
            <a:avLst/>
          </a:prstGeom>
          <a:noFill/>
        </p:spPr>
        <p:txBody>
          <a:bodyPr wrap="square" rtlCol="0">
            <a:spAutoFit/>
          </a:bodyPr>
          <a:lstStyle/>
          <a:p>
            <a:r>
              <a:rPr lang="en-MY" sz="1200" dirty="0">
                <a:solidFill>
                  <a:schemeClr val="bg1"/>
                </a:solidFill>
              </a:rPr>
              <a:t>utm.my</a:t>
            </a:r>
          </a:p>
        </p:txBody>
      </p:sp>
      <p:sp>
        <p:nvSpPr>
          <p:cNvPr id="25" name="Shape 2865">
            <a:extLst>
              <a:ext uri="{FF2B5EF4-FFF2-40B4-BE49-F238E27FC236}">
                <a16:creationId xmlns:a16="http://schemas.microsoft.com/office/drawing/2014/main" id="{123F8921-49CA-90DB-32D1-C5AA4C985D01}"/>
              </a:ext>
            </a:extLst>
          </p:cNvPr>
          <p:cNvSpPr/>
          <p:nvPr/>
        </p:nvSpPr>
        <p:spPr>
          <a:xfrm>
            <a:off x="3720466" y="407695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bg1"/>
          </a:soli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861">
            <a:extLst>
              <a:ext uri="{FF2B5EF4-FFF2-40B4-BE49-F238E27FC236}">
                <a16:creationId xmlns:a16="http://schemas.microsoft.com/office/drawing/2014/main" id="{1380BA52-67A1-3ED5-42D9-2A461EBA05A8}"/>
              </a:ext>
            </a:extLst>
          </p:cNvPr>
          <p:cNvSpPr/>
          <p:nvPr/>
        </p:nvSpPr>
        <p:spPr>
          <a:xfrm>
            <a:off x="4072196" y="407695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bg1"/>
          </a:soli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pic>
        <p:nvPicPr>
          <p:cNvPr id="30" name="Graphic 29">
            <a:extLst>
              <a:ext uri="{FF2B5EF4-FFF2-40B4-BE49-F238E27FC236}">
                <a16:creationId xmlns:a16="http://schemas.microsoft.com/office/drawing/2014/main" id="{970F175F-7AF7-89EA-112A-720572DAAB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3684" y="4070864"/>
            <a:ext cx="289182" cy="289182"/>
          </a:xfrm>
          <a:prstGeom prst="rect">
            <a:avLst/>
          </a:prstGeom>
        </p:spPr>
      </p:pic>
      <p:sp>
        <p:nvSpPr>
          <p:cNvPr id="31" name="TextBox 30">
            <a:extLst>
              <a:ext uri="{FF2B5EF4-FFF2-40B4-BE49-F238E27FC236}">
                <a16:creationId xmlns:a16="http://schemas.microsoft.com/office/drawing/2014/main" id="{8BBE6196-BF2A-FEBF-C038-9FC0BED4A868}"/>
              </a:ext>
            </a:extLst>
          </p:cNvPr>
          <p:cNvSpPr txBox="1"/>
          <p:nvPr/>
        </p:nvSpPr>
        <p:spPr>
          <a:xfrm>
            <a:off x="7819166" y="4069364"/>
            <a:ext cx="1861503" cy="276999"/>
          </a:xfrm>
          <a:prstGeom prst="rect">
            <a:avLst/>
          </a:prstGeom>
          <a:noFill/>
        </p:spPr>
        <p:txBody>
          <a:bodyPr wrap="square" rtlCol="0">
            <a:spAutoFit/>
          </a:bodyPr>
          <a:lstStyle/>
          <a:p>
            <a:r>
              <a:rPr lang="en-MY" sz="1200" dirty="0" err="1">
                <a:solidFill>
                  <a:schemeClr val="bg1"/>
                </a:solidFill>
              </a:rPr>
              <a:t>utmofficial</a:t>
            </a:r>
            <a:endParaRPr lang="en-MY" sz="1200" dirty="0">
              <a:solidFill>
                <a:schemeClr val="bg1"/>
              </a:solidFill>
            </a:endParaRPr>
          </a:p>
        </p:txBody>
      </p:sp>
      <p:pic>
        <p:nvPicPr>
          <p:cNvPr id="33" name="Graphic 32">
            <a:extLst>
              <a:ext uri="{FF2B5EF4-FFF2-40B4-BE49-F238E27FC236}">
                <a16:creationId xmlns:a16="http://schemas.microsoft.com/office/drawing/2014/main" id="{B08DA86B-1F79-234F-1249-1C05AE9EA6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89397" y="4076956"/>
            <a:ext cx="289182" cy="289182"/>
          </a:xfrm>
          <a:prstGeom prst="rect">
            <a:avLst/>
          </a:prstGeom>
        </p:spPr>
      </p:pic>
      <p:sp>
        <p:nvSpPr>
          <p:cNvPr id="2" name="Rectangle 1">
            <a:extLst>
              <a:ext uri="{FF2B5EF4-FFF2-40B4-BE49-F238E27FC236}">
                <a16:creationId xmlns:a16="http://schemas.microsoft.com/office/drawing/2014/main" id="{8264E0DA-499D-4CE3-B780-039E32B6931F}"/>
              </a:ext>
            </a:extLst>
          </p:cNvPr>
          <p:cNvSpPr/>
          <p:nvPr/>
        </p:nvSpPr>
        <p:spPr>
          <a:xfrm>
            <a:off x="3807323" y="4777679"/>
            <a:ext cx="4386522" cy="646331"/>
          </a:xfrm>
          <a:prstGeom prst="rect">
            <a:avLst/>
          </a:prstGeom>
        </p:spPr>
        <p:txBody>
          <a:bodyPr wrap="none">
            <a:spAutoFit/>
          </a:bodyPr>
          <a:lstStyle/>
          <a:p>
            <a:r>
              <a:rPr lang="en-MY" dirty="0">
                <a:solidFill>
                  <a:schemeClr val="bg1"/>
                </a:solidFill>
              </a:rPr>
              <a:t>Video link : </a:t>
            </a:r>
            <a:r>
              <a:rPr lang="en-MY" dirty="0">
                <a:solidFill>
                  <a:schemeClr val="bg1"/>
                </a:solidFill>
                <a:hlinkClick r:id="rId6"/>
              </a:rPr>
              <a:t>https://youtu.be/OewG4Q3L9wg</a:t>
            </a:r>
            <a:endParaRPr lang="en-MY" dirty="0">
              <a:solidFill>
                <a:schemeClr val="bg1"/>
              </a:solidFill>
            </a:endParaRPr>
          </a:p>
          <a:p>
            <a:endParaRPr lang="en-MY" dirty="0">
              <a:solidFill>
                <a:schemeClr val="bg1"/>
              </a:solidFill>
            </a:endParaRPr>
          </a:p>
        </p:txBody>
      </p:sp>
    </p:spTree>
    <p:extLst>
      <p:ext uri="{BB962C8B-B14F-4D97-AF65-F5344CB8AC3E}">
        <p14:creationId xmlns:p14="http://schemas.microsoft.com/office/powerpoint/2010/main" val="1470522129"/>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7809</TotalTime>
  <Words>1072</Words>
  <Application>Microsoft Office PowerPoint</Application>
  <PresentationFormat>Widescreen</PresentationFormat>
  <Paragraphs>106</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Antonio</vt:lpstr>
      <vt:lpstr>Lato</vt:lpstr>
      <vt:lpstr>Arial</vt:lpstr>
      <vt:lpstr>Calibri</vt:lpstr>
      <vt:lpstr>Calibri Light</vt:lpstr>
      <vt:lpstr>Source Sans Pro Light</vt:lpstr>
      <vt:lpstr>Office Theme</vt:lpstr>
      <vt:lpstr>PowerPoint Presentation</vt:lpstr>
      <vt:lpstr>PowerPoint Presentation</vt:lpstr>
      <vt:lpstr>PowerPoint Presentation</vt:lpstr>
      <vt:lpstr>Background of the project</vt:lpstr>
      <vt:lpstr>PowerPoint Presentation</vt:lpstr>
      <vt:lpstr>PowerPoint Presentation</vt:lpstr>
      <vt:lpstr>Knowledge and Skills</vt:lpstr>
      <vt:lpstr>PowerPoint Presentation</vt:lpstr>
      <vt:lpstr>Evidences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Koo Xuan</cp:lastModifiedBy>
  <cp:revision>59</cp:revision>
  <dcterms:created xsi:type="dcterms:W3CDTF">2023-12-31T03:09:43Z</dcterms:created>
  <dcterms:modified xsi:type="dcterms:W3CDTF">2025-01-20T15:16:10Z</dcterms:modified>
</cp:coreProperties>
</file>